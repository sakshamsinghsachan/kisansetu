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0E5B69-6954-4EBF-8ABB-AF7AF3A3169A}" v="252" dt="2025-09-16T17:58:26.900"/>
    <p1510:client id="{41BF881E-62AD-4A12-9C4E-1CF1253B6092}" v="48" dt="2025-09-16T18:29:21.129"/>
    <p1510:client id="{A382B0AA-77B2-46C6-936D-51E66F70A9FB}" v="452" dt="2025-09-16T18:28:30.318"/>
    <p1510:client id="{B9B20656-658A-434A-94B1-CE56E518D23A}" v="1924" dt="2025-09-16T18:21:44.7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e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jpe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jpeg"/><Relationship Id="rId21" Type="http://schemas.openxmlformats.org/officeDocument/2006/relationships/image" Target="../media/image21.jpeg"/><Relationship Id="rId22" Type="http://schemas.openxmlformats.org/officeDocument/2006/relationships/image" Target="../media/image22.png"/><Relationship Id="rId23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agrostar.in/shop?language=hi&amp;state=uttar-pradesh" TargetMode="External"/><Relationship Id="rId5" Type="http://schemas.openxmlformats.org/officeDocument/2006/relationships/hyperlink" Target="https://plantix.net/" TargetMode="External"/><Relationship Id="rId6" Type="http://schemas.openxmlformats.org/officeDocument/2006/relationships/hyperlink" Target="https://secure.mygov.in/group-issue/kisan-suvidha-smart-mobile-app-farmers/" TargetMode="External"/><Relationship Id="rId7" Type="http://schemas.openxmlformats.org/officeDocument/2006/relationships/hyperlink" Target="https://www.cropin.com/" TargetMode="External"/><Relationship Id="rId8" Type="http://schemas.openxmlformats.org/officeDocument/2006/relationships/hyperlink" Target="https://arxiv.org/abs/2409.08916" TargetMode="External"/><Relationship Id="rId9" Type="http://schemas.openxmlformats.org/officeDocument/2006/relationships/hyperlink" Target="https://plantnet.org/en/" TargetMode="External"/><Relationship Id="rId10" Type="http://schemas.openxmlformats.org/officeDocument/2006/relationships/hyperlink" Target="https://www.linkedin.com/pulse/krishi-saathi-ai-powered-agricultural-advisory-indias-yfzn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2000"/>
              <a:t>Farm to Consumer Digital Marketplace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sz="4000" b="1">
                <a:solidFill>
                  <a:srgbClr val="22783C"/>
                </a:solidFill>
              </a:rPr>
              <a:t>KISANSETU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1613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1100"/>
              <a:t>Problem Statement ID - SIH26033</a:t>
            </a:r>
            <a:endParaRPr lang="en-US" dirty="0"/>
          </a:p>
          <a:p>
            <a:r>
              <a:rPr sz="1100"/>
              <a:t>Problem Statement Title - Digital Marketplace for Farmers</a:t>
            </a:r>
          </a:p>
          <a:p>
            <a:r>
              <a:rPr sz="1100"/>
              <a:t>Theme - Agriculture, FoodTech &amp; Rural Development</a:t>
            </a:r>
          </a:p>
          <a:p>
            <a:r>
              <a:rPr sz="1100"/>
              <a:t>PS Category - Software</a:t>
            </a:r>
          </a:p>
          <a:p>
            <a:r>
              <a:rPr sz="1100"/>
              <a:t>Team Name - KisanSetu Team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2800" b="1">
                <a:solidFill>
                  <a:srgbClr val="22783C"/>
                </a:solidFill>
              </a:rPr>
              <a:t>Problem &amp;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3556" y="1143000"/>
            <a:ext cx="121919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1600" b="1">
                <a:solidFill>
                  <a:srgbClr val="22783C"/>
                </a:solidFill>
              </a:rPr>
              <a:t>Our Solution: KisanSetu App</a:t>
            </a:r>
            <a:endParaRPr lang="en-US" sz="2800" u="sng" dirty="0">
              <a:solidFill>
                <a:schemeClr val="tx2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</a:t>
            </a:r>
            <a:r>
              <a:rPr lang="en-US" sz="1700" dirty="0"/>
              <a:t>Catalyst</a:t>
            </a:r>
          </a:p>
          <a:p>
            <a:pPr algn="ctr"/>
            <a:r>
              <a:rPr lang="en-US" dirty="0"/>
              <a:t>6.0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33428" y="1716403"/>
            <a:ext cx="6096000" cy="3323987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000"/>
              <a:t>THE PROBLEM:</a:t>
            </a:r>
          </a:p>
          <a:p>
            <a:r>
              <a:rPr sz="1000"/>
              <a:t>Multiple intermediaries reduce farmers earnings</a:t>
            </a:r>
          </a:p>
          <a:p>
            <a:r>
              <a:rPr sz="1000"/>
              <a:t>and increase consumer prices.</a:t>
            </a:r>
          </a:p>
          <a:p>
            <a:r>
              <a:rPr sz="1000"/>
              <a:t/>
            </a:r>
          </a:p>
          <a:p>
            <a:r>
              <a:rPr sz="1000"/>
              <a:t>Key Issues:</a:t>
            </a:r>
          </a:p>
          <a:p>
            <a:r>
              <a:rPr sz="1000"/>
              <a:t>• Farmer gets only 30-40% of final price</a:t>
            </a:r>
          </a:p>
          <a:p>
            <a:r>
              <a:rPr sz="1000"/>
              <a:t>• Consumer pays 40-50% more</a:t>
            </a:r>
          </a:p>
          <a:p>
            <a:r>
              <a:rPr sz="1000"/>
              <a:t>• No direct farmer-consumer communication</a:t>
            </a:r>
          </a:p>
          <a:p>
            <a:r>
              <a:rPr sz="1000"/>
              <a:t>• No demand visibility for farmers</a:t>
            </a:r>
          </a:p>
          <a:p>
            <a:r>
              <a:rPr sz="1000"/>
              <a:t>• Supply chain causes food waste</a:t>
            </a:r>
          </a:p>
          <a:p>
            <a:r>
              <a:rPr sz="1000"/>
              <a:t/>
            </a:r>
          </a:p>
          <a:p>
            <a:r>
              <a:rPr sz="1000"/>
              <a:t>OUR SOLUTION: KisanSetu</a:t>
            </a:r>
          </a:p>
          <a:p>
            <a:r>
              <a:rPr sz="1000"/>
              <a:t>✓ Direct farmer-to-consumer marketplace</a:t>
            </a:r>
          </a:p>
          <a:p>
            <a:r>
              <a:rPr sz="1000"/>
              <a:t>✓ AI-powered demand forecasting</a:t>
            </a:r>
          </a:p>
          <a:p>
            <a:r>
              <a:rPr sz="1000"/>
              <a:t>✓ Smart logistics with route optimization</a:t>
            </a:r>
          </a:p>
          <a:p>
            <a:r>
              <a:rPr sz="1000"/>
              <a:t>✓ Real-time chat communication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98781" y="4878267"/>
            <a:ext cx="1008404" cy="5298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Farmer Registers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/>
          <p:cNvCxnSpPr>
            <a:stCxn id="3" idx="3"/>
          </p:cNvCxnSpPr>
          <p:nvPr/>
        </p:nvCxnSpPr>
        <p:spPr>
          <a:xfrm>
            <a:off x="1407185" y="5143187"/>
            <a:ext cx="4963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954778" y="4827675"/>
            <a:ext cx="1465524" cy="5995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Lists Products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>
            <a:stCxn id="8" idx="3"/>
          </p:cNvCxnSpPr>
          <p:nvPr/>
        </p:nvCxnSpPr>
        <p:spPr>
          <a:xfrm>
            <a:off x="3420302" y="5127473"/>
            <a:ext cx="5811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045117" y="4782447"/>
            <a:ext cx="1452785" cy="66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Consumer Buys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/>
          <p:cNvCxnSpPr>
            <a:stCxn id="19" idx="3"/>
          </p:cNvCxnSpPr>
          <p:nvPr/>
        </p:nvCxnSpPr>
        <p:spPr>
          <a:xfrm flipV="1">
            <a:off x="5497902" y="5103609"/>
            <a:ext cx="533375" cy="92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079016" y="4717371"/>
            <a:ext cx="1346699" cy="72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Direct Delivery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200" y="1059580"/>
            <a:ext cx="3500152" cy="46309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6315" y="1365168"/>
            <a:ext cx="5582773" cy="3940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000"/>
              <a:t>TECHNOLOGY STACK (MERN)</a:t>
            </a:r>
          </a:p>
          <a:p>
            <a:r>
              <a:rPr sz="1000"/>
              <a:t/>
            </a:r>
          </a:p>
          <a:p>
            <a:r>
              <a:rPr sz="1000"/>
              <a:t>Frontend: React.js 18, Tailwind CSS, Framer Motion</a:t>
            </a:r>
          </a:p>
          <a:p>
            <a:r>
              <a:rPr sz="1000"/>
              <a:t>Backend: Node.js, Express.js, Socket.io</a:t>
            </a:r>
          </a:p>
          <a:p>
            <a:r>
              <a:rPr sz="1000"/>
              <a:t>Database: MongoDB Atlas (Cloud NoSQL)</a:t>
            </a:r>
          </a:p>
          <a:p>
            <a:r>
              <a:rPr sz="1000"/>
              <a:t>Auth: JWT tokens, bcrypt hashing</a:t>
            </a:r>
          </a:p>
          <a:p>
            <a:r>
              <a:rPr sz="1000"/>
              <a:t>Deployment: Vercel (Frontend), Render (Backend)</a:t>
            </a:r>
          </a:p>
          <a:p>
            <a:r>
              <a:rPr sz="1000"/>
              <a:t/>
            </a:r>
          </a:p>
          <a:p>
            <a:r>
              <a:rPr sz="1000"/>
              <a:t>KEY FEATURES:</a:t>
            </a:r>
          </a:p>
          <a:p>
            <a:r>
              <a:rPr sz="1000"/>
              <a:t>• Multi-role Auth (Farmer/Consumer/FPO)</a:t>
            </a:r>
          </a:p>
          <a:p>
            <a:r>
              <a:rPr sz="1000"/>
              <a:t>• Product Marketplace with search &amp; filters</a:t>
            </a:r>
          </a:p>
          <a:p>
            <a:r>
              <a:rPr sz="1000"/>
              <a:t>• AI Demand Forecasting &amp; price suggestions</a:t>
            </a:r>
          </a:p>
          <a:p>
            <a:r>
              <a:rPr sz="1000"/>
              <a:t>• Smart Route Optimization (Nearest Neighbor)</a:t>
            </a:r>
          </a:p>
          <a:p>
            <a:r>
              <a:rPr sz="1000"/>
              <a:t>• Real-time Chat via Socket.io</a:t>
            </a:r>
          </a:p>
          <a:p>
            <a:r>
              <a:rPr sz="1000"/>
              <a:t>• Analytics Dashboard with Chart.js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</a:t>
            </a:r>
            <a:r>
              <a:rPr lang="en-US" sz="1700" dirty="0"/>
              <a:t>Catalyst </a:t>
            </a:r>
            <a:r>
              <a:rPr lang="en-US" dirty="0"/>
              <a:t>6.0</a:t>
            </a:r>
            <a:endParaRPr lang="en-IN" sz="17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940969" y="1344569"/>
            <a:ext cx="2142828" cy="1474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4" name="Picture 10" descr="Flutter Vector SVG Icon - SVG Rep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478" y="1573760"/>
            <a:ext cx="482991" cy="48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287897" y="1117692"/>
            <a:ext cx="144897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sz="900" b="1">
                <a:solidFill>
                  <a:srgbClr val="22783C"/>
                </a:solidFill>
              </a:rPr>
              <a:t>React.js + Tailwind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8" name="Picture 14" descr="Free React Icon - Free Download Logos Icons | IconScou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052" y="1615746"/>
            <a:ext cx="466104" cy="46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JavaScript JS Logo Icon HD 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085" y="1547154"/>
            <a:ext cx="553781" cy="63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File:Dart logo.png - Wikimedia Common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478" y="2148421"/>
            <a:ext cx="541900" cy="54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File:Python-logo-notext.svg - Wikimedia Common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052" y="2239420"/>
            <a:ext cx="422141" cy="42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File:Typescript logo 2020.svg - Wikimedia Commons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684" y="2239420"/>
            <a:ext cx="536003" cy="43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/>
          <p:cNvCxnSpPr>
            <a:stCxn id="2" idx="3"/>
          </p:cNvCxnSpPr>
          <p:nvPr/>
        </p:nvCxnSpPr>
        <p:spPr>
          <a:xfrm flipV="1">
            <a:off x="8083797" y="2081850"/>
            <a:ext cx="75216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835963" y="1216600"/>
            <a:ext cx="2225327" cy="1474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9478922" y="1091974"/>
            <a:ext cx="848871" cy="37504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sz="900" b="1">
                <a:solidFill>
                  <a:srgbClr val="22783C"/>
                </a:solidFill>
              </a:rPr>
              <a:t>REST API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54" name="Picture 30" descr="OpenWeather · GitHub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6283" y="1350984"/>
            <a:ext cx="684959" cy="68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Market price logo design template | Premium Vector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5771" y="1526389"/>
            <a:ext cx="857608" cy="67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Cloud Translation API – Marketplace – Google Cloud console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192" y="2092054"/>
            <a:ext cx="926515" cy="46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Google launches Cloud Vision API application - Routee.net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1284" y="2009925"/>
            <a:ext cx="775431" cy="51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/>
          <p:cNvCxnSpPr>
            <a:stCxn id="16" idx="2"/>
          </p:cNvCxnSpPr>
          <p:nvPr/>
        </p:nvCxnSpPr>
        <p:spPr>
          <a:xfrm flipH="1">
            <a:off x="9948625" y="2691163"/>
            <a:ext cx="2" cy="5863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568813" y="3421008"/>
            <a:ext cx="3013587" cy="122191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9260293" y="3308823"/>
            <a:ext cx="1520715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sz="900" b="1">
                <a:solidFill>
                  <a:srgbClr val="22783C"/>
                </a:solidFill>
              </a:rPr>
              <a:t>AI Analytics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4" name="Picture 40" descr="ML Kit | Google for Developers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746" y="3737007"/>
            <a:ext cx="438747" cy="36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Google TensorFlow Icon SVG Vector &amp; PNG Free Download | UXWin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339" y="3737007"/>
            <a:ext cx="484868" cy="461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GitHub - RasaHQ/rasa: 💬 Open source machine learning framework to automate  text- and voice-based conversations: NLU, dialogue management, connect to  Slack, Facebook, and more - Create chatbots and voice assistants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290" y="3771953"/>
            <a:ext cx="455867" cy="45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File:PyTorch logo icon.svg - Wikimedia Commons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767" y="3640194"/>
            <a:ext cx="485326" cy="587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 descr="Understanding XGBoost &amp; it's growing popularity among the ML community | by  Deep Borkar | Analytics Vidhya | Medium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71" y="4162354"/>
            <a:ext cx="761741" cy="42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Straight Arrow Connector 28"/>
          <p:cNvCxnSpPr>
            <a:stCxn id="23" idx="2"/>
          </p:cNvCxnSpPr>
          <p:nvPr/>
        </p:nvCxnSpPr>
        <p:spPr>
          <a:xfrm flipH="1">
            <a:off x="8895939" y="4642923"/>
            <a:ext cx="1179668" cy="5723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003478" y="5273235"/>
            <a:ext cx="3837888" cy="9642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4" name="TextBox 1023"/>
          <p:cNvSpPr txBox="1"/>
          <p:nvPr/>
        </p:nvSpPr>
        <p:spPr>
          <a:xfrm>
            <a:off x="7165660" y="5117427"/>
            <a:ext cx="1525015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sz="900" b="1">
                <a:solidFill>
                  <a:srgbClr val="22783C"/>
                </a:solidFill>
              </a:rPr>
              <a:t>Node.js + Express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74" name="Picture 50" descr="Firebase Brand Guidelines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5462661"/>
            <a:ext cx="644734" cy="644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8" name="Picture 54" descr="Next.js Logo &amp; Brand Assets (SVG, PNG and vector) - Brandfetch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594" y="5544701"/>
            <a:ext cx="598231" cy="59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 descr="Cloud storage logo design template | Premium Vector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614" y="5452603"/>
            <a:ext cx="602369" cy="60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 descr="File:Expressjs.png - Wikimedia Commons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975" y="5590888"/>
            <a:ext cx="1487395" cy="451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7" name="Straight Arrow Connector 1026"/>
          <p:cNvCxnSpPr/>
          <p:nvPr/>
        </p:nvCxnSpPr>
        <p:spPr>
          <a:xfrm flipH="1" flipV="1">
            <a:off x="6517663" y="4472261"/>
            <a:ext cx="594017" cy="743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8" name="Rectangle 1027"/>
          <p:cNvSpPr/>
          <p:nvPr/>
        </p:nvSpPr>
        <p:spPr>
          <a:xfrm>
            <a:off x="5940969" y="3549478"/>
            <a:ext cx="1975718" cy="92278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9" name="TextBox 1028"/>
          <p:cNvSpPr txBox="1"/>
          <p:nvPr/>
        </p:nvSpPr>
        <p:spPr>
          <a:xfrm>
            <a:off x="6331083" y="3341763"/>
            <a:ext cx="1092787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sz="900" b="1">
                <a:solidFill>
                  <a:srgbClr val="22783C"/>
                </a:solidFill>
              </a:rPr>
              <a:t>Vercel + Render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4" name="Picture 60" descr="GitHub Logo, symbol, meaning, history, PNG, brand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428" y="3775480"/>
            <a:ext cx="1179053" cy="66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436914" cy="8399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Code</a:t>
            </a:r>
          </a:p>
          <a:p>
            <a:pPr algn="ctr"/>
            <a:r>
              <a:rPr lang="en-US">
                <a:ea typeface="Calibri"/>
                <a:cs typeface="Calibri"/>
              </a:rPr>
              <a:t>Catalyst6.0</a:t>
            </a:r>
            <a:endParaRPr lang="en-US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2686E2-5F2A-F948-746E-F57B48C0AC89}"/>
              </a:ext>
            </a:extLst>
          </p:cNvPr>
          <p:cNvSpPr txBox="1"/>
          <p:nvPr/>
        </p:nvSpPr>
        <p:spPr>
          <a:xfrm>
            <a:off x="483269" y="1175084"/>
            <a:ext cx="3254542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900" b="1">
                <a:solidFill>
                  <a:srgbClr val="22783C"/>
                </a:solidFill>
              </a:rPr>
              <a:t>Feasibility</a:t>
            </a:r>
          </a:p>
          <a:p>
            <a:r>
              <a:rPr sz="900" b="1">
                <a:solidFill>
                  <a:srgbClr val="22783C"/>
                </a:solidFill>
              </a:rPr>
              <a:t>• MERN stack mature &amp; widely used</a:t>
            </a:r>
          </a:p>
          <a:p>
            <a:r>
              <a:rPr sz="900" b="1">
                <a:solidFill>
                  <a:srgbClr val="22783C"/>
                </a:solidFill>
              </a:rPr>
              <a:t>• MongoDB Atlas free tier</a:t>
            </a:r>
          </a:p>
          <a:p>
            <a:r>
              <a:rPr sz="900" b="1">
                <a:solidFill>
                  <a:srgbClr val="22783C"/>
                </a:solidFill>
              </a:rPr>
              <a:t>• Render &amp; Vercel free hosting</a:t>
            </a:r>
          </a:p>
          <a:p>
            <a:r>
              <a:rPr sz="900" b="1">
                <a:solidFill>
                  <a:srgbClr val="22783C"/>
                </a:solidFill>
              </a:rPr>
              <a:t>• AI built with proven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4893D-B3DD-5E31-66FB-EC221BC89C26}"/>
              </a:ext>
            </a:extLst>
          </p:cNvPr>
          <p:cNvSpPr txBox="1"/>
          <p:nvPr/>
        </p:nvSpPr>
        <p:spPr>
          <a:xfrm>
            <a:off x="4383505" y="1175084"/>
            <a:ext cx="2743200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900" b="1">
                <a:solidFill>
                  <a:srgbClr val="FF9800"/>
                </a:solidFill>
              </a:rPr>
              <a:t>Challenges</a:t>
            </a:r>
          </a:p>
          <a:p>
            <a:r>
              <a:rPr sz="900" b="1">
                <a:solidFill>
                  <a:srgbClr val="FF9800"/>
                </a:solidFill>
              </a:rPr>
              <a:t>• Internet in rural areas</a:t>
            </a:r>
          </a:p>
          <a:p>
            <a:r>
              <a:rPr sz="900" b="1">
                <a:solidFill>
                  <a:srgbClr val="FF9800"/>
                </a:solidFill>
              </a:rPr>
              <a:t>• Building user trust</a:t>
            </a:r>
          </a:p>
          <a:p>
            <a:r>
              <a:rPr sz="900" b="1">
                <a:solidFill>
                  <a:srgbClr val="FF9800"/>
                </a:solidFill>
              </a:rPr>
              <a:t>• Scaling to millions</a:t>
            </a:r>
          </a:p>
          <a:p>
            <a:r>
              <a:rPr sz="900" b="1">
                <a:solidFill>
                  <a:srgbClr val="FF9800"/>
                </a:solidFill>
              </a:rPr>
              <a:t>• Low digital literacy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B52E6-61A8-FA2E-4D53-B4D8340EA29A}"/>
              </a:ext>
            </a:extLst>
          </p:cNvPr>
          <p:cNvSpPr txBox="1"/>
          <p:nvPr/>
        </p:nvSpPr>
        <p:spPr>
          <a:xfrm>
            <a:off x="8343900" y="1094874"/>
            <a:ext cx="2743200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900" b="1">
                <a:solidFill>
                  <a:srgbClr val="22783C"/>
                </a:solidFill>
              </a:rPr>
              <a:t>Strategies</a:t>
            </a:r>
          </a:p>
          <a:p>
            <a:r>
              <a:rPr sz="900" b="1">
                <a:solidFill>
                  <a:srgbClr val="22783C"/>
                </a:solidFill>
              </a:rPr>
              <a:t>• Offline-first design</a:t>
            </a:r>
          </a:p>
          <a:p>
            <a:r>
              <a:rPr sz="900" b="1">
                <a:solidFill>
                  <a:srgbClr val="22783C"/>
                </a:solidFill>
              </a:rPr>
              <a:t>• Rating system for trust</a:t>
            </a:r>
          </a:p>
          <a:p>
            <a:r>
              <a:rPr sz="900" b="1">
                <a:solidFill>
                  <a:srgbClr val="22783C"/>
                </a:solidFill>
              </a:rPr>
              <a:t>• Cloud-native scaling</a:t>
            </a:r>
          </a:p>
          <a:p>
            <a:r>
              <a:rPr sz="900" b="1">
                <a:solidFill>
                  <a:srgbClr val="22783C"/>
                </a:solidFill>
              </a:rPr>
              <a:t>• Multi-language support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B148CF-B670-A208-5C65-3D1FB8E8EBA8}"/>
              </a:ext>
            </a:extLst>
          </p:cNvPr>
          <p:cNvCxnSpPr/>
          <p:nvPr/>
        </p:nvCxnSpPr>
        <p:spPr>
          <a:xfrm>
            <a:off x="4037096" y="908886"/>
            <a:ext cx="22059" cy="408271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E79417-BBEE-388A-425C-534D7EE0837E}"/>
              </a:ext>
            </a:extLst>
          </p:cNvPr>
          <p:cNvCxnSpPr/>
          <p:nvPr/>
        </p:nvCxnSpPr>
        <p:spPr>
          <a:xfrm>
            <a:off x="7839576" y="811130"/>
            <a:ext cx="22057" cy="428324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8CB6543-AF30-ED37-7EE0-382F98D4EF47}"/>
              </a:ext>
            </a:extLst>
          </p:cNvPr>
          <p:cNvSpPr txBox="1"/>
          <p:nvPr/>
        </p:nvSpPr>
        <p:spPr>
          <a:xfrm>
            <a:off x="523374" y="4985085"/>
            <a:ext cx="7214936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900" b="1">
                <a:solidFill>
                  <a:srgbClr val="FF9800"/>
                </a:solidFill>
              </a:rPr>
              <a:t>Business Model</a:t>
            </a:r>
          </a:p>
          <a:p>
            <a:r>
              <a:rPr sz="900" b="1">
                <a:solidFill>
                  <a:srgbClr val="FF9800"/>
                </a:solidFill>
              </a:rPr>
              <a:t>→ Commission on transactions</a:t>
            </a:r>
          </a:p>
          <a:p>
            <a:r>
              <a:rPr sz="900" b="1">
                <a:solidFill>
                  <a:srgbClr val="FF9800"/>
                </a:solidFill>
              </a:rPr>
              <a:t>→ Premium analytics subscription</a:t>
            </a:r>
          </a:p>
          <a:p>
            <a:r>
              <a:rPr sz="900" b="1">
                <a:solidFill>
                  <a:srgbClr val="FF9800"/>
                </a:solidFill>
              </a:rPr>
              <a:t>→ Logistics partnerships</a:t>
            </a:r>
          </a:p>
          <a:p>
            <a:r>
              <a:rPr sz="900" b="1">
                <a:solidFill>
                  <a:srgbClr val="FF9800"/>
                </a:solidFill>
              </a:rPr>
              <a:t>→ Government scheme integration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422304" cy="8273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Code</a:t>
            </a:r>
          </a:p>
          <a:p>
            <a:pPr algn="ctr"/>
            <a:r>
              <a:rPr lang="en-US"/>
              <a:t>Catalyst</a:t>
            </a:r>
            <a:endParaRPr lang="en-US">
              <a:ea typeface="Calibri"/>
              <a:cs typeface="Calibri"/>
            </a:endParaRPr>
          </a:p>
          <a:p>
            <a:pPr algn="ctr"/>
            <a:r>
              <a:rPr lang="en-US"/>
              <a:t>6.0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F3561C-6A88-2A3F-C6CB-CE124ABBE816}"/>
              </a:ext>
            </a:extLst>
          </p:cNvPr>
          <p:cNvSpPr txBox="1"/>
          <p:nvPr/>
        </p:nvSpPr>
        <p:spPr>
          <a:xfrm>
            <a:off x="6388770" y="1034716"/>
            <a:ext cx="5650830" cy="53860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900" b="1">
                <a:solidFill>
                  <a:srgbClr val="22783C"/>
                </a:solidFill>
              </a:rPr>
              <a:t>Benefits</a:t>
            </a:r>
          </a:p>
          <a:p>
            <a:r>
              <a:rPr sz="900" b="1">
                <a:solidFill>
                  <a:srgbClr val="22783C"/>
                </a:solidFill>
              </a:rPr>
              <a:t>✓ Farmer Income: +30-40% increase</a:t>
            </a:r>
          </a:p>
          <a:p>
            <a:r>
              <a:rPr sz="900" b="1">
                <a:solidFill>
                  <a:srgbClr val="22783C"/>
                </a:solidFill>
              </a:rPr>
              <a:t>✓ Consumer Savings: 20-30% lower prices</a:t>
            </a:r>
          </a:p>
          <a:p>
            <a:r>
              <a:rPr sz="900" b="1">
                <a:solidFill>
                  <a:srgbClr val="22783C"/>
                </a:solidFill>
              </a:rPr>
              <a:t>✓ Food Waste: 25-30% reduction</a:t>
            </a:r>
          </a:p>
          <a:p>
            <a:r>
              <a:rPr sz="900" b="1">
                <a:solidFill>
                  <a:srgbClr val="22783C"/>
                </a:solidFill>
              </a:rPr>
              <a:t>✓ Delivery: 35% time saved</a:t>
            </a:r>
          </a:p>
          <a:p>
            <a:r>
              <a:rPr sz="900" b="1">
                <a:solidFill>
                  <a:srgbClr val="22783C"/>
                </a:solidFill>
              </a:rPr>
              <a:t>✓ Direct connection, no middlemen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5901A-922D-15CF-B80D-587723022406}"/>
              </a:ext>
            </a:extLst>
          </p:cNvPr>
          <p:cNvSpPr txBox="1"/>
          <p:nvPr/>
        </p:nvSpPr>
        <p:spPr>
          <a:xfrm>
            <a:off x="443163" y="1034715"/>
            <a:ext cx="5650830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900" b="1">
                <a:solidFill>
                  <a:srgbClr val="FF9800"/>
                </a:solidFill>
              </a:rPr>
              <a:t>Impact</a:t>
            </a:r>
          </a:p>
          <a:p>
            <a:r>
              <a:rPr sz="900" b="1">
                <a:solidFill>
                  <a:srgbClr val="FF9800"/>
                </a:solidFill>
              </a:rPr>
              <a:t>✓ Economic: Higher farmer income</a:t>
            </a:r>
          </a:p>
          <a:p>
            <a:r>
              <a:rPr sz="900" b="1">
                <a:solidFill>
                  <a:srgbClr val="FF9800"/>
                </a:solidFill>
              </a:rPr>
              <a:t>✓ Social: Digital empowerment</a:t>
            </a:r>
          </a:p>
          <a:p>
            <a:r>
              <a:rPr sz="900" b="1">
                <a:solidFill>
                  <a:srgbClr val="FF9800"/>
                </a:solidFill>
              </a:rPr>
              <a:t>✓ Environmental: Less food waste</a:t>
            </a:r>
          </a:p>
          <a:p>
            <a:r>
              <a:rPr sz="900" b="1">
                <a:solidFill>
                  <a:srgbClr val="FF9800"/>
                </a:solidFill>
              </a:rPr>
              <a:t>✓ Market: Transparent pricing</a:t>
            </a:r>
          </a:p>
          <a:p>
            <a:r>
              <a:rPr sz="900" b="1">
                <a:solidFill>
                  <a:srgbClr val="FF9800"/>
                </a:solidFill>
              </a:rPr>
              <a:t>✓ Scalable across India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4E21DAA-F77C-FC85-DCD8-BBF304B6B115}"/>
              </a:ext>
            </a:extLst>
          </p:cNvPr>
          <p:cNvCxnSpPr/>
          <p:nvPr/>
        </p:nvCxnSpPr>
        <p:spPr>
          <a:xfrm>
            <a:off x="6220325" y="1818772"/>
            <a:ext cx="22060" cy="452387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878" y="1184453"/>
            <a:ext cx="2421199" cy="532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457200" indent="-457200" algn="just">
              <a:buFont typeface="Wingdings" panose="020B0604020202020204" pitchFamily="34" charset="0"/>
              <a:buChar char="v"/>
              <a:defRPr/>
            </a:pPr>
            <a:r>
              <a:rPr sz="1400" b="1">
                <a:solidFill>
                  <a:srgbClr val="22783C"/>
                </a:solidFill>
              </a:rPr>
              <a:t>Thank You! | KisanSetu</a:t>
            </a:r>
            <a:endParaRPr lang="en-US" sz="2800" b="0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436914" cy="8399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Code </a:t>
            </a:r>
          </a:p>
          <a:p>
            <a:pPr algn="ctr"/>
            <a:r>
              <a:rPr lang="en-US" sz="1700" dirty="0">
                <a:ea typeface="Calibri"/>
                <a:cs typeface="Calibri"/>
              </a:rPr>
              <a:t>Catalyst</a:t>
            </a:r>
          </a:p>
          <a:p>
            <a:pPr algn="ctr"/>
            <a:r>
              <a:rPr lang="en-US" dirty="0">
                <a:ea typeface="Calibri"/>
                <a:cs typeface="Calibri"/>
              </a:rPr>
              <a:t>6.0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C57129-167F-C627-4F85-1F80719CA45B}"/>
              </a:ext>
            </a:extLst>
          </p:cNvPr>
          <p:cNvSpPr txBox="1"/>
          <p:nvPr/>
        </p:nvSpPr>
        <p:spPr>
          <a:xfrm>
            <a:off x="332885" y="1710344"/>
            <a:ext cx="28975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1000" b="1">
                <a:solidFill>
                  <a:srgbClr val="22783C"/>
                </a:solidFill>
              </a:rPr>
              <a:t>Existing Platforms: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4A2B6-F80B-D659-37CE-C75F53873424}"/>
              </a:ext>
            </a:extLst>
          </p:cNvPr>
          <p:cNvSpPr txBox="1"/>
          <p:nvPr/>
        </p:nvSpPr>
        <p:spPr>
          <a:xfrm>
            <a:off x="327149" y="2090045"/>
            <a:ext cx="343767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sz="900" b="1"/>
              <a:t>Existing Platforms:</a:t>
            </a:r>
            <a:endParaRPr lang="en-US" sz="1200">
              <a:latin typeface="Arial"/>
              <a:cs typeface="Arial"/>
            </a:endParaRPr>
          </a:p>
          <a:p>
            <a:r>
              <a:rPr sz="900" b="1"/>
              <a:t>• BigHaat: Agricultural e-commerce</a:t>
            </a:r>
          </a:p>
          <a:p>
            <a:r>
              <a:rPr sz="900" b="1"/>
              <a:t>• DeHaat: Farm-to-market platform</a:t>
            </a:r>
          </a:p>
          <a:p>
            <a:r>
              <a:rPr sz="900" b="1"/>
              <a:t>• AgroStar: Farm input marketplace</a:t>
            </a:r>
          </a:p>
          <a:p>
            <a:r>
              <a:rPr sz="900" b="1"/>
              <a:t>• Ninjacart: B2B produce supply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8B0DCD-3580-3D0D-BFAC-21DD76EC7AF9}"/>
              </a:ext>
            </a:extLst>
          </p:cNvPr>
          <p:cNvSpPr txBox="1"/>
          <p:nvPr/>
        </p:nvSpPr>
        <p:spPr>
          <a:xfrm>
            <a:off x="410851" y="395552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1000" b="1">
                <a:solidFill>
                  <a:srgbClr val="22783C"/>
                </a:solidFill>
              </a:rPr>
              <a:t>Our Differentiation: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4F056A-98DB-1653-5D0C-7D5B5B3AEF9B}"/>
              </a:ext>
            </a:extLst>
          </p:cNvPr>
          <p:cNvSpPr txBox="1"/>
          <p:nvPr/>
        </p:nvSpPr>
        <p:spPr>
          <a:xfrm>
            <a:off x="211402" y="4323558"/>
            <a:ext cx="3563072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sz="900" b="1"/>
              <a:t>Our Differentiation:</a:t>
            </a:r>
            <a:endParaRPr lang="en-US" sz="1400" dirty="0">
              <a:latin typeface="Arial"/>
              <a:ea typeface="Calibri"/>
              <a:cs typeface="Calibri"/>
            </a:endParaRPr>
          </a:p>
          <a:p>
            <a:r>
              <a:rPr sz="900" b="1"/>
              <a:t>★ Direct F2C model (no B2B layer)</a:t>
            </a:r>
          </a:p>
          <a:p>
            <a:r>
              <a:rPr sz="900" b="1"/>
              <a:t>★ AI demand forecasting built-in</a:t>
            </a:r>
          </a:p>
          <a:p>
            <a:r>
              <a:rPr sz="900" b="1"/>
              <a:t>★ Smart logistics &amp; route optimization</a:t>
            </a:r>
          </a:p>
          <a:p>
            <a:r>
              <a:rPr sz="900" b="1"/>
              <a:t>★ Multi-role support system</a:t>
            </a:r>
          </a:p>
          <a:p>
            <a:r>
              <a:rPr sz="900" b="1"/>
              <a:t>★ Real-time chat communication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74553-0202-3718-D040-283AB5BE33C6}"/>
              </a:ext>
            </a:extLst>
          </p:cNvPr>
          <p:cNvSpPr txBox="1"/>
          <p:nvPr/>
        </p:nvSpPr>
        <p:spPr>
          <a:xfrm>
            <a:off x="3803942" y="1096971"/>
            <a:ext cx="63506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sz="1000" b="1">
                <a:solidFill>
                  <a:srgbClr val="22783C"/>
                </a:solidFill>
              </a:rPr>
              <a:t>References:</a:t>
            </a:r>
            <a:endParaRPr lang="en-US" sz="2800" u="sng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361D17D-BD35-F222-CC3F-2BE7ADAF5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296756"/>
              </p:ext>
            </p:extLst>
          </p:nvPr>
        </p:nvGraphicFramePr>
        <p:xfrm>
          <a:off x="3795115" y="1571745"/>
          <a:ext cx="8117127" cy="47844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9355">
                  <a:extLst>
                    <a:ext uri="{9D8B030D-6E8A-4147-A177-3AD203B41FA5}">
                      <a16:colId xmlns:a16="http://schemas.microsoft.com/office/drawing/2014/main" val="485883200"/>
                    </a:ext>
                  </a:extLst>
                </a:gridCol>
                <a:gridCol w="1774806">
                  <a:extLst>
                    <a:ext uri="{9D8B030D-6E8A-4147-A177-3AD203B41FA5}">
                      <a16:colId xmlns:a16="http://schemas.microsoft.com/office/drawing/2014/main" val="948218424"/>
                    </a:ext>
                  </a:extLst>
                </a:gridCol>
                <a:gridCol w="1563851">
                  <a:extLst>
                    <a:ext uri="{9D8B030D-6E8A-4147-A177-3AD203B41FA5}">
                      <a16:colId xmlns:a16="http://schemas.microsoft.com/office/drawing/2014/main" val="212421474"/>
                    </a:ext>
                  </a:extLst>
                </a:gridCol>
                <a:gridCol w="1192900">
                  <a:extLst>
                    <a:ext uri="{9D8B030D-6E8A-4147-A177-3AD203B41FA5}">
                      <a16:colId xmlns:a16="http://schemas.microsoft.com/office/drawing/2014/main" val="1386473985"/>
                    </a:ext>
                  </a:extLst>
                </a:gridCol>
                <a:gridCol w="1796215">
                  <a:extLst>
                    <a:ext uri="{9D8B030D-6E8A-4147-A177-3AD203B41FA5}">
                      <a16:colId xmlns:a16="http://schemas.microsoft.com/office/drawing/2014/main" val="3970302981"/>
                    </a:ext>
                  </a:extLst>
                </a:gridCol>
              </a:tblGrid>
              <a:tr h="371785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u="sng" err="1">
                          <a:latin typeface="Times New Roman"/>
                        </a:rPr>
                        <a:t>KrishiSakhi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err="1">
                          <a:latin typeface="Times New Roman"/>
                        </a:rPr>
                        <a:t>AgroStar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err="1">
                          <a:latin typeface="Times New Roman"/>
                        </a:rPr>
                        <a:t>Plantix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Kisan Suvidha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054543"/>
                  </a:ext>
                </a:extLst>
              </a:tr>
              <a:tr h="65505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Multilingual  AI </a:t>
                      </a:r>
                      <a:r>
                        <a:rPr lang="en-US" err="1">
                          <a:latin typeface="Times New Roman"/>
                        </a:rPr>
                        <a:t>ChatBot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  ✅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✅(Limited)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✅(Partial)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433343"/>
                  </a:ext>
                </a:extLst>
              </a:tr>
              <a:tr h="37178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Crop </a:t>
                      </a:r>
                      <a:r>
                        <a:rPr lang="en-US" err="1">
                          <a:latin typeface="Times New Roman"/>
                        </a:rPr>
                        <a:t>Calender</a:t>
                      </a:r>
                      <a:endParaRPr lang="en-US" dirty="0" err="1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50516"/>
                  </a:ext>
                </a:extLst>
              </a:tr>
              <a:tr h="65263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Pest / Disease Image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139180"/>
                  </a:ext>
                </a:extLst>
              </a:tr>
              <a:tr h="65505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Market Price Tracking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616"/>
                  </a:ext>
                </a:extLst>
              </a:tr>
              <a:tr h="6550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Voice support for literacy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328431"/>
                  </a:ext>
                </a:extLst>
              </a:tr>
              <a:tr h="6550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Direct Local Shop 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810091"/>
                  </a:ext>
                </a:extLst>
              </a:tr>
              <a:tr h="3717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Alert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   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140874"/>
                  </a:ext>
                </a:extLst>
              </a:tr>
              <a:tr h="3717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Feedback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✅(Limited)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  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715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7604</TotalTime>
  <Words>643</Words>
  <Application>Microsoft Office PowerPoint</Application>
  <PresentationFormat>Widescreen</PresentationFormat>
  <Paragraphs>159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Smart Crop Advisory System for Small and Marginal Farmers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cse department</cp:lastModifiedBy>
  <cp:revision>961</cp:revision>
  <dcterms:created xsi:type="dcterms:W3CDTF">2013-12-12T18:46:50Z</dcterms:created>
  <dcterms:modified xsi:type="dcterms:W3CDTF">2025-09-17T10:19:35Z</dcterms:modified>
  <cp:category/>
</cp:coreProperties>
</file>