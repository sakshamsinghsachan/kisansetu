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E5B69-6954-4EBF-8ABB-AF7AF3A3169A}" v="252" dt="2025-09-16T17:58:26.900"/>
    <p1510:client id="{41BF881E-62AD-4A12-9C4E-1CF1253B6092}" v="48" dt="2025-09-16T18:29:21.129"/>
    <p1510:client id="{A382B0AA-77B2-46C6-936D-51E66F70A9FB}" v="452" dt="2025-09-16T18:28:30.318"/>
    <p1510:client id="{B9B20656-658A-434A-94B1-CE56E518D23A}" v="1924" dt="2025-09-16T18:21:44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800" b="1">
                <a:solidFill>
                  <a:srgbClr val="22783C"/>
                </a:solidFill>
              </a:rPr>
              <a:t>KisanSetu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3C3C3C"/>
                </a:solidFill>
              </a:rPr>
              <a:t>Farm to Consumer Digital Marketplace</a:t>
            </a:r>
          </a:p>
          <a:p>
            <a:pPr algn="ctr"/>
            <a:r>
              <a:rPr sz="2000">
                <a:solidFill>
                  <a:srgbClr val="FF9800"/>
                </a:solidFill>
              </a:rPr>
              <a:t>
Smart India Hackathon 2026</a:t>
            </a:r>
          </a:p>
          <a:p>
            <a:pPr algn="ctr"/>
            <a:r>
              <a:rPr sz="1600">
                <a:solidFill>
                  <a:srgbClr val="3C3C3C"/>
                </a:solidFill>
              </a:rPr>
              <a:t>Problem Statement ID: SIH26033</a:t>
            </a:r>
          </a:p>
          <a:p>
            <a:pPr algn="ctr"/>
            <a:r>
              <a:rPr sz="1400">
                <a:solidFill>
                  <a:srgbClr val="646464"/>
                </a:solidFill>
              </a:rPr>
              <a:t>Ministry of Consumer Affairs, Food &amp; Public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FF9800"/>
                </a:solidFill>
              </a:rPr>
              <a:t>THE PROBLEM</a:t>
            </a:r>
          </a:p>
          <a:p>
            <a:r>
              <a:rPr sz="1400">
                <a:solidFill>
                  <a:srgbClr val="3C3C3C"/>
                </a:solidFill>
              </a:rPr>
              <a:t>Multiple intermediaries reduce farmers earnings and increase consumer prices.</a:t>
            </a:r>
          </a:p>
          <a:p>
            <a:r>
              <a:rPr sz="1600" b="1">
                <a:solidFill>
                  <a:srgbClr val="22783C"/>
                </a:solidFill>
              </a:rPr>
              <a:t>
Key Issues:</a:t>
            </a:r>
          </a:p>
          <a:p>
            <a:pPr lvl="1"/>
            <a:r>
              <a:rPr sz="1200">
                <a:solidFill>
                  <a:srgbClr val="3C3C3C"/>
                </a:solidFill>
              </a:rPr>
              <a:t>• Farmer gets only 30-40% of final price</a:t>
            </a:r>
          </a:p>
          <a:p>
            <a:pPr lvl="1"/>
            <a:r>
              <a:rPr sz="1200">
                <a:solidFill>
                  <a:srgbClr val="3C3C3C"/>
                </a:solidFill>
              </a:rPr>
              <a:t>• Consumer pays 40-50% more than fair price</a:t>
            </a:r>
          </a:p>
          <a:p>
            <a:pPr lvl="1"/>
            <a:r>
              <a:rPr sz="1200">
                <a:solidFill>
                  <a:srgbClr val="3C3C3C"/>
                </a:solidFill>
              </a:rPr>
              <a:t>• No direct communication between farmer &amp; consumer</a:t>
            </a:r>
          </a:p>
          <a:p>
            <a:pPr lvl="1"/>
            <a:r>
              <a:rPr sz="1200">
                <a:solidFill>
                  <a:srgbClr val="3C3C3C"/>
                </a:solidFill>
              </a:rPr>
              <a:t>• No demand visibility for farmers</a:t>
            </a:r>
          </a:p>
          <a:p>
            <a:pPr lvl="1"/>
            <a:r>
              <a:rPr sz="1200">
                <a:solidFill>
                  <a:srgbClr val="3C3C3C"/>
                </a:solidFill>
              </a:rPr>
              <a:t>• Supply chain inefficiencies cause food waste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22783C"/>
                </a:solidFill>
              </a:rPr>
              <a:t>OUR SOLUTION: KisanSetu</a:t>
            </a:r>
          </a:p>
          <a:p>
            <a:r>
              <a:rPr sz="1200">
                <a:solidFill>
                  <a:srgbClr val="145028"/>
                </a:solidFill>
              </a:rPr>
              <a:t>✓ Direct farmer-to-consumer marketplace (no middlemen)</a:t>
            </a:r>
          </a:p>
          <a:p>
            <a:r>
              <a:rPr sz="1200">
                <a:solidFill>
                  <a:srgbClr val="145028"/>
                </a:solidFill>
              </a:rPr>
              <a:t>✓ AI-powered demand forecasting &amp; price suggestions</a:t>
            </a:r>
          </a:p>
          <a:p>
            <a:r>
              <a:rPr sz="1200">
                <a:solidFill>
                  <a:srgbClr val="145028"/>
                </a:solidFill>
              </a:rPr>
              <a:t>✓ Smart logistics with route optimization</a:t>
            </a:r>
          </a:p>
          <a:p>
            <a:r>
              <a:rPr sz="1200">
                <a:solidFill>
                  <a:srgbClr val="145028"/>
                </a:solidFill>
              </a:rPr>
              <a:t>✓ Real-time chat between buyers and sellers</a:t>
            </a:r>
          </a:p>
          <a:p>
            <a:r>
              <a:rPr sz="1200">
                <a:solidFill>
                  <a:srgbClr val="145028"/>
                </a:solidFill>
              </a:rPr>
              <a:t>✓ Role-based access: Farmer, Consumer, FPO, Bulk Buyer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>
                <a:solidFill>
                  <a:srgbClr val="FF9800"/>
                </a:solidFill>
              </a:rPr>
              <a:t>TECHNOLOGY STACK (MERN)</a:t>
            </a:r>
          </a:p>
          <a:p>
            <a:r>
              <a:rPr sz="1200" b="1">
                <a:solidFill>
                  <a:srgbClr val="22783C"/>
                </a:solidFill>
              </a:rPr>
              <a:t>Frontend: </a:t>
            </a:r>
            <a:r>
              <a:rPr sz="1200">
                <a:solidFill>
                  <a:srgbClr val="3C3C3C"/>
                </a:solidFill>
              </a:rPr>
              <a:t>React.js 18, Tailwind CSS, Framer Motion, Chart.js</a:t>
            </a:r>
          </a:p>
          <a:p>
            <a:r>
              <a:rPr sz="1200" b="1">
                <a:solidFill>
                  <a:srgbClr val="22783C"/>
                </a:solidFill>
              </a:rPr>
              <a:t>Backend: </a:t>
            </a:r>
            <a:r>
              <a:rPr sz="1200">
                <a:solidFill>
                  <a:srgbClr val="3C3C3C"/>
                </a:solidFill>
              </a:rPr>
              <a:t>Node.js, Express.js, Socket.io</a:t>
            </a:r>
          </a:p>
          <a:p>
            <a:r>
              <a:rPr sz="1200" b="1">
                <a:solidFill>
                  <a:srgbClr val="22783C"/>
                </a:solidFill>
              </a:rPr>
              <a:t>Database: </a:t>
            </a:r>
            <a:r>
              <a:rPr sz="1200">
                <a:solidFill>
                  <a:srgbClr val="3C3C3C"/>
                </a:solidFill>
              </a:rPr>
              <a:t>MongoDB Atlas (Cloud NoSQL)</a:t>
            </a:r>
          </a:p>
          <a:p>
            <a:r>
              <a:rPr sz="1200" b="1">
                <a:solidFill>
                  <a:srgbClr val="22783C"/>
                </a:solidFill>
              </a:rPr>
              <a:t>Authentication: </a:t>
            </a:r>
            <a:r>
              <a:rPr sz="1200">
                <a:solidFill>
                  <a:srgbClr val="3C3C3C"/>
                </a:solidFill>
              </a:rPr>
              <a:t>JWT (JSON Web Tokens), bcrypt</a:t>
            </a:r>
          </a:p>
          <a:p>
            <a:r>
              <a:rPr sz="1200" b="1">
                <a:solidFill>
                  <a:srgbClr val="22783C"/>
                </a:solidFill>
              </a:rPr>
              <a:t>Deployment: </a:t>
            </a:r>
            <a:r>
              <a:rPr sz="1200">
                <a:solidFill>
                  <a:srgbClr val="3C3C3C"/>
                </a:solidFill>
              </a:rPr>
              <a:t>Vercel (Frontend), Render (Backend)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FF9800"/>
                </a:solidFill>
              </a:rPr>
              <a:t>KEY FEATURES</a:t>
            </a:r>
          </a:p>
          <a:p>
            <a:r>
              <a:rPr sz="1200">
                <a:solidFill>
                  <a:srgbClr val="3C3C3C"/>
                </a:solidFill>
              </a:rPr>
              <a:t>→ Multi-role Authentication (Farmer/Consumer/FPO/Bulk Buyer)</a:t>
            </a:r>
          </a:p>
          <a:p>
            <a:r>
              <a:rPr sz="1200">
                <a:solidFill>
                  <a:srgbClr val="3C3C3C"/>
                </a:solidFill>
              </a:rPr>
              <a:t>→ Product Marketplace with search, filters, categories</a:t>
            </a:r>
          </a:p>
          <a:p>
            <a:r>
              <a:rPr sz="1200">
                <a:solidFill>
                  <a:srgbClr val="3C3C3C"/>
                </a:solidFill>
              </a:rPr>
              <a:t>→ AI Demand Forecasting with price suggestions</a:t>
            </a:r>
          </a:p>
          <a:p>
            <a:r>
              <a:rPr sz="1200">
                <a:solidFill>
                  <a:srgbClr val="3C3C3C"/>
                </a:solidFill>
              </a:rPr>
              <a:t>→ Smart Route Optimization (Nearest Neighbor Algorithm)</a:t>
            </a:r>
          </a:p>
          <a:p>
            <a:r>
              <a:rPr sz="1200">
                <a:solidFill>
                  <a:srgbClr val="3C3C3C"/>
                </a:solidFill>
              </a:rPr>
              <a:t>→ Real-time Chat using Socket.io</a:t>
            </a:r>
          </a:p>
          <a:p>
            <a:r>
              <a:rPr sz="1200">
                <a:solidFill>
                  <a:srgbClr val="3C3C3C"/>
                </a:solidFill>
              </a:rPr>
              <a:t>→ Analytics Dashboard with Chart.js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System 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>
                <a:solidFill>
                  <a:srgbClr val="FF9800"/>
                </a:solidFill>
              </a:rPr>
              <a:t>SYSTEM ARCHITECTURE</a:t>
            </a:r>
          </a:p>
          <a:p>
            <a:r>
              <a:rPr sz="1000">
                <a:solidFill>
                  <a:srgbClr val="3C3C3C"/>
                </a:solidFill>
                <a:latin typeface="Courier New"/>
              </a:rPr>
              <a:t>
┌─────────────────────────────────────────────┐
│              CLIENT (React.js)              │
│   Farmer │ Consumer │ FPO │ Bulk Buyer      │
└────────────────────┬────────────────────────┘
                     │ REST API
┌────────────────────┴────────────────────────┐
│           SERVER (Node.js + Express)         │
│  Auth │ Products │ Orders │ Analytics │ Chat │
└────────────────────┬────────────────────────┘
                     │
┌────────────────────┴────────────────────────┐
│         DATABASE (MongoDB Atlas)             │
│  Users │ Products │ Orders │ Chats │ Messages│
└─────────────────────────────────────────────┘
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9800"/>
                </a:solidFill>
              </a:rPr>
              <a:t>USER FLOW</a:t>
            </a:r>
          </a:p>
          <a:p>
            <a:r>
              <a:rPr sz="1100">
                <a:solidFill>
                  <a:srgbClr val="3C3C3C"/>
                </a:solidFill>
              </a:rPr>
              <a:t>1. User registers (Farmer/Consumer) → JWT token generated</a:t>
            </a:r>
          </a:p>
          <a:p>
            <a:r>
              <a:rPr sz="1100">
                <a:solidFill>
                  <a:srgbClr val="3C3C3C"/>
                </a:solidFill>
              </a:rPr>
              <a:t>2. Farmer lists products → Images, price, quantity</a:t>
            </a:r>
          </a:p>
          <a:p>
            <a:r>
              <a:rPr sz="1100">
                <a:solidFill>
                  <a:srgbClr val="3C3C3C"/>
                </a:solidFill>
              </a:rPr>
              <a:t>3. Consumer browses → Search, filter, view details</a:t>
            </a:r>
          </a:p>
          <a:p>
            <a:r>
              <a:rPr sz="1100">
                <a:solidFill>
                  <a:srgbClr val="3C3C3C"/>
                </a:solidFill>
              </a:rPr>
              <a:t>4. Consumer clicks Buy → Checkout with address</a:t>
            </a:r>
          </a:p>
          <a:p>
            <a:r>
              <a:rPr sz="1100">
                <a:solidFill>
                  <a:srgbClr val="3C3C3C"/>
                </a:solidFill>
              </a:rPr>
              <a:t>5. Farmer receives order → Accepts/Rejects</a:t>
            </a:r>
          </a:p>
          <a:p>
            <a:r>
              <a:rPr sz="1100">
                <a:solidFill>
                  <a:srgbClr val="3C3C3C"/>
                </a:solidFill>
              </a:rPr>
              <a:t>6. Smart logistics → Route optimized for delivery</a:t>
            </a:r>
          </a:p>
          <a:p>
            <a:r>
              <a:rPr sz="1100">
                <a:solidFill>
                  <a:srgbClr val="3C3C3C"/>
                </a:solidFill>
              </a:rPr>
              <a:t>7. Order delivered → Payment &amp;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>
                <a:solidFill>
                  <a:srgbClr val="22783C"/>
                </a:solidFill>
              </a:rPr>
              <a:t>Feasibility</a:t>
            </a:r>
          </a:p>
          <a:p>
            <a:r>
              <a:rPr sz="1200">
                <a:solidFill>
                  <a:srgbClr val="3C3C3C"/>
                </a:solidFill>
              </a:rPr>
              <a:t>• MERN stack is mature, well-documented, and widely used</a:t>
            </a:r>
          </a:p>
          <a:p>
            <a:r>
              <a:rPr sz="1200">
                <a:solidFill>
                  <a:srgbClr val="3C3C3C"/>
                </a:solidFill>
              </a:rPr>
              <a:t>• MongoDB Atlas provides free cloud database tier</a:t>
            </a:r>
          </a:p>
          <a:p>
            <a:r>
              <a:rPr sz="1200">
                <a:solidFill>
                  <a:srgbClr val="3C3C3C"/>
                </a:solidFill>
              </a:rPr>
              <a:t>• Render &amp; Vercel offer free hosting for deployment</a:t>
            </a:r>
          </a:p>
          <a:p>
            <a:r>
              <a:rPr sz="1200">
                <a:solidFill>
                  <a:srgbClr val="3C3C3C"/>
                </a:solidFill>
              </a:rPr>
              <a:t>• AI analytics can be built with existing algorithms</a:t>
            </a:r>
          </a:p>
          <a:p>
            <a:r>
              <a:rPr sz="1200">
                <a:solidFill>
                  <a:srgbClr val="3C3C3C"/>
                </a:solidFill>
              </a:rPr>
              <a:t>• Route optimization uses proven TSP algorithms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FF9800"/>
                </a:solidFill>
              </a:rPr>
              <a:t>Challenges &amp; Strategies</a:t>
            </a:r>
          </a:p>
          <a:p>
            <a:r>
              <a:rPr sz="1200" b="1">
                <a:solidFill>
                  <a:srgbClr val="FF9800"/>
                </a:solidFill>
              </a:rPr>
              <a:t>Challenge: </a:t>
            </a:r>
            <a:r>
              <a:rPr sz="1200">
                <a:solidFill>
                  <a:srgbClr val="3C3C3C"/>
                </a:solidFill>
              </a:rPr>
              <a:t>Internet connectivity in rural areas</a:t>
            </a:r>
          </a:p>
          <a:p>
            <a:r>
              <a:rPr sz="1200" b="1">
                <a:solidFill>
                  <a:srgbClr val="145028"/>
                </a:solidFill>
              </a:rPr>
              <a:t>Strategy: </a:t>
            </a:r>
            <a:r>
              <a:rPr sz="1200">
                <a:solidFill>
                  <a:srgbClr val="3C3C3C"/>
                </a:solidFill>
              </a:rPr>
              <a:t>Offline-first design with SMS fallback</a:t>
            </a:r>
          </a:p>
          <a:p>
            <a:r>
              <a:rPr sz="1200" b="1">
                <a:solidFill>
                  <a:srgbClr val="FF9800"/>
                </a:solidFill>
              </a:rPr>
              <a:t>Challenge: </a:t>
            </a:r>
            <a:r>
              <a:rPr sz="1200">
                <a:solidFill>
                  <a:srgbClr val="3C3C3C"/>
                </a:solidFill>
              </a:rPr>
              <a:t>Building trust between farmers and consumers</a:t>
            </a:r>
          </a:p>
          <a:p>
            <a:r>
              <a:rPr sz="1200" b="1">
                <a:solidFill>
                  <a:srgbClr val="145028"/>
                </a:solidFill>
              </a:rPr>
              <a:t>Strategy: </a:t>
            </a:r>
            <a:r>
              <a:rPr sz="1200">
                <a:solidFill>
                  <a:srgbClr val="3C3C3C"/>
                </a:solidFill>
              </a:rPr>
              <a:t>Rating system, verified profiles, secure payments</a:t>
            </a:r>
          </a:p>
          <a:p>
            <a:r>
              <a:rPr sz="1200" b="1">
                <a:solidFill>
                  <a:srgbClr val="FF9800"/>
                </a:solidFill>
              </a:rPr>
              <a:t>Challenge: </a:t>
            </a:r>
            <a:r>
              <a:rPr sz="1200">
                <a:solidFill>
                  <a:srgbClr val="3C3C3C"/>
                </a:solidFill>
              </a:rPr>
              <a:t>Scaling to millions of users</a:t>
            </a:r>
          </a:p>
          <a:p>
            <a:r>
              <a:rPr sz="1200" b="1">
                <a:solidFill>
                  <a:srgbClr val="145028"/>
                </a:solidFill>
              </a:rPr>
              <a:t>Strategy: </a:t>
            </a:r>
            <a:r>
              <a:rPr sz="1200">
                <a:solidFill>
                  <a:srgbClr val="3C3C3C"/>
                </a:solidFill>
              </a:rPr>
              <a:t>Cloud-native architecture, MongoDB Atlas auto-scaling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2783C"/>
                </a:solidFill>
              </a:rPr>
              <a:t>Business Model</a:t>
            </a:r>
          </a:p>
          <a:p>
            <a:r>
              <a:rPr sz="1200">
                <a:solidFill>
                  <a:srgbClr val="3C3C3C"/>
                </a:solidFill>
              </a:rPr>
              <a:t>→ Commission-based: Small fee on successful transactions</a:t>
            </a:r>
          </a:p>
          <a:p>
            <a:r>
              <a:rPr sz="1200">
                <a:solidFill>
                  <a:srgbClr val="3C3C3C"/>
                </a:solidFill>
              </a:rPr>
              <a:t>→ Premium subscriptions for advanced analytics</a:t>
            </a:r>
          </a:p>
          <a:p>
            <a:r>
              <a:rPr sz="1200">
                <a:solidFill>
                  <a:srgbClr val="3C3C3C"/>
                </a:solidFill>
              </a:rPr>
              <a:t>→ Logistics partnerships for delivery services</a:t>
            </a:r>
          </a:p>
          <a:p>
            <a:r>
              <a:rPr sz="1200">
                <a:solidFill>
                  <a:srgbClr val="3C3C3C"/>
                </a:solidFill>
              </a:rPr>
              <a:t>→ Government subsidies and agricultural schemes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>
                <a:solidFill>
                  <a:srgbClr val="22783C"/>
                </a:solidFill>
              </a:rPr>
              <a:t>Impact on Farmers</a:t>
            </a:r>
          </a:p>
          <a:p>
            <a:r>
              <a:rPr sz="1200">
                <a:solidFill>
                  <a:srgbClr val="145028"/>
                </a:solidFill>
              </a:rPr>
              <a:t>✓ 30-40% increase in earnings (direct sales)</a:t>
            </a:r>
          </a:p>
          <a:p>
            <a:r>
              <a:rPr sz="1200">
                <a:solidFill>
                  <a:srgbClr val="145028"/>
                </a:solidFill>
              </a:rPr>
              <a:t>✓ AI-powered demand forecasting for better planning</a:t>
            </a:r>
          </a:p>
          <a:p>
            <a:r>
              <a:rPr sz="1200">
                <a:solidFill>
                  <a:srgbClr val="145028"/>
                </a:solidFill>
              </a:rPr>
              <a:t>✓ Direct access to consumers and bulk buyers</a:t>
            </a:r>
          </a:p>
          <a:p>
            <a:r>
              <a:rPr sz="1200">
                <a:solidFill>
                  <a:srgbClr val="145028"/>
                </a:solidFill>
              </a:rPr>
              <a:t>✓ Digital payment records and transparent pricing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FF9800"/>
                </a:solidFill>
              </a:rPr>
              <a:t>Impact on Consumers</a:t>
            </a:r>
          </a:p>
          <a:p>
            <a:r>
              <a:rPr sz="1200">
                <a:solidFill>
                  <a:srgbClr val="3C3C3C"/>
                </a:solidFill>
              </a:rPr>
              <a:t>✓ 20-30% lower prices (no middlemen markup)</a:t>
            </a:r>
          </a:p>
          <a:p>
            <a:r>
              <a:rPr sz="1200">
                <a:solidFill>
                  <a:srgbClr val="3C3C3C"/>
                </a:solidFill>
              </a:rPr>
              <a:t>✓ Fresh produce directly from farms</a:t>
            </a:r>
          </a:p>
          <a:p>
            <a:r>
              <a:rPr sz="1200">
                <a:solidFill>
                  <a:srgbClr val="3C3C3C"/>
                </a:solidFill>
              </a:rPr>
              <a:t>✓ Transparent pricing and quality assurance</a:t>
            </a:r>
          </a:p>
          <a:p>
            <a:r>
              <a:rPr sz="1200">
                <a:solidFill>
                  <a:srgbClr val="3C3C3C"/>
                </a:solidFill>
              </a:rPr>
              <a:t>✓ Direct communication with farmers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2783C"/>
                </a:solidFill>
              </a:rPr>
              <a:t>Impact on Society</a:t>
            </a:r>
          </a:p>
          <a:p>
            <a:r>
              <a:rPr sz="1200">
                <a:solidFill>
                  <a:srgbClr val="145028"/>
                </a:solidFill>
              </a:rPr>
              <a:t>✓ Reduced food waste through demand forecasting</a:t>
            </a:r>
          </a:p>
          <a:p>
            <a:r>
              <a:rPr sz="1200">
                <a:solidFill>
                  <a:srgbClr val="145028"/>
                </a:solidFill>
              </a:rPr>
              <a:t>✓ Optimized delivery routes (less fuel consumption)</a:t>
            </a:r>
          </a:p>
          <a:p>
            <a:r>
              <a:rPr sz="1200">
                <a:solidFill>
                  <a:srgbClr val="145028"/>
                </a:solidFill>
              </a:rPr>
              <a:t>✓ Digital empowerment of small farmers</a:t>
            </a:r>
          </a:p>
          <a:p>
            <a:r>
              <a:rPr sz="1200">
                <a:solidFill>
                  <a:srgbClr val="145028"/>
                </a:solidFill>
              </a:rPr>
              <a:t>✓ Transparent agricultural marketplace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FF9800"/>
                </a:solidFill>
              </a:rPr>
              <a:t>Expected Metrics</a:t>
            </a:r>
          </a:p>
          <a:p>
            <a:r>
              <a:rPr sz="1200">
                <a:solidFill>
                  <a:srgbClr val="3C3C3C"/>
                </a:solidFill>
              </a:rPr>
              <a:t>📊 Farmer Income: +30-40% increase</a:t>
            </a:r>
          </a:p>
          <a:p>
            <a:r>
              <a:rPr sz="1200">
                <a:solidFill>
                  <a:srgbClr val="3C3C3C"/>
                </a:solidFill>
              </a:rPr>
              <a:t>📊 Consumer Savings: 20-30% lower prices</a:t>
            </a:r>
          </a:p>
          <a:p>
            <a:r>
              <a:rPr sz="1200">
                <a:solidFill>
                  <a:srgbClr val="3C3C3C"/>
                </a:solidFill>
              </a:rPr>
              <a:t>📊 Food Waste Reduction: 25-30%</a:t>
            </a:r>
          </a:p>
          <a:p>
            <a:r>
              <a:rPr sz="1200">
                <a:solidFill>
                  <a:srgbClr val="3C3C3C"/>
                </a:solidFill>
              </a:rPr>
              <a:t>📊 Delivery Efficiency: 35% time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2783C"/>
                </a:solidFill>
              </a:rP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1">
                <a:solidFill>
                  <a:srgbClr val="FF9800"/>
                </a:solidFill>
              </a:rPr>
              <a:t>Existing Platforms:</a:t>
            </a:r>
          </a:p>
          <a:p>
            <a:r>
              <a:rPr sz="1100">
                <a:solidFill>
                  <a:srgbClr val="3C3C3C"/>
                </a:solidFill>
              </a:rPr>
              <a:t>• BigHaat: https://bighaat.com (Agricultural e-commerce)</a:t>
            </a:r>
          </a:p>
          <a:p>
            <a:r>
              <a:rPr sz="1100">
                <a:solidFill>
                  <a:srgbClr val="3C3C3C"/>
                </a:solidFill>
              </a:rPr>
              <a:t>• DeHaat: https://dehaat.com (Farm-to-market platform)</a:t>
            </a:r>
          </a:p>
          <a:p>
            <a:r>
              <a:rPr sz="1100">
                <a:solidFill>
                  <a:srgbClr val="3C3C3C"/>
                </a:solidFill>
              </a:rPr>
              <a:t>• AgroStar: https://agrostar.in (Farm input marketplace)</a:t>
            </a:r>
          </a:p>
          <a:p>
            <a:r>
              <a:rPr sz="1100">
                <a:solidFill>
                  <a:srgbClr val="3C3C3C"/>
                </a:solidFill>
              </a:rPr>
              <a:t>• Ninjacart: https://ninjacart.com (B2B produce supply)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2783C"/>
                </a:solidFill>
              </a:rPr>
              <a:t>Research Papers:</a:t>
            </a:r>
          </a:p>
          <a:p>
            <a:r>
              <a:rPr sz="1100">
                <a:solidFill>
                  <a:srgbClr val="3C3C3C"/>
                </a:solidFill>
              </a:rPr>
              <a:t>📄 FAO Report: Digital Agriculture for Smallholder Farmers</a:t>
            </a:r>
          </a:p>
          <a:p>
            <a:r>
              <a:rPr sz="1100">
                <a:solidFill>
                  <a:srgbClr val="3C3C3C"/>
                </a:solidFill>
              </a:rPr>
              <a:t>📄 NABARD: Impact of ICT on Agricultural Productivity</a:t>
            </a:r>
          </a:p>
          <a:p>
            <a:r>
              <a:rPr sz="1100">
                <a:solidFill>
                  <a:srgbClr val="3C3C3C"/>
                </a:solidFill>
              </a:rPr>
              <a:t>📄 IEEE: AI-Based Crop Recommendation Systems</a:t>
            </a:r>
          </a:p>
          <a:p>
            <a:r>
              <a:rPr sz="1100">
                <a:solidFill>
                  <a:srgbClr val="3C3C3C"/>
                </a:solidFill>
              </a:rPr>
              <a:t>📄 Springer: Route Optimization for Agricultural Supply Chain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2783C"/>
                </a:solidFill>
              </a:rPr>
              <a:t>Our Differentiation:</a:t>
            </a:r>
          </a:p>
          <a:p>
            <a:r>
              <a:rPr sz="1100">
                <a:solidFill>
                  <a:srgbClr val="145028"/>
                </a:solidFill>
              </a:rPr>
              <a:t>★ Direct F2C model (no B2B intermediary layer)</a:t>
            </a:r>
          </a:p>
          <a:p>
            <a:r>
              <a:rPr sz="1100">
                <a:solidFill>
                  <a:srgbClr val="145028"/>
                </a:solidFill>
              </a:rPr>
              <a:t>★ AI-powered demand forecasting built-in</a:t>
            </a:r>
          </a:p>
          <a:p>
            <a:r>
              <a:rPr sz="1100">
                <a:solidFill>
                  <a:srgbClr val="145028"/>
                </a:solidFill>
              </a:rPr>
              <a:t>★ Smart logistics with route optimization</a:t>
            </a:r>
          </a:p>
          <a:p>
            <a:r>
              <a:rPr sz="1100">
                <a:solidFill>
                  <a:srgbClr val="145028"/>
                </a:solidFill>
              </a:rPr>
              <a:t>★ Multi-role support (Farmer/Consumer/FPO/Buyer)</a:t>
            </a:r>
          </a:p>
          <a:p>
            <a:r>
              <a:rPr sz="1100">
                <a:solidFill>
                  <a:srgbClr val="145028"/>
                </a:solidFill>
              </a:rPr>
              <a:t>★ Real-time chat for direct communication</a:t>
            </a:r>
          </a:p>
          <a:p>
            <a:pPr algn="ctr">
              <a:spcBef>
                <a:spcPts val="1600"/>
              </a:spcBef>
            </a:pPr>
            <a:r>
              <a:rPr sz="2800" b="1">
                <a:solidFill>
                  <a:srgbClr val="22783C"/>
                </a:solidFill>
              </a:rPr>
              <a:t>Thank You!</a:t>
            </a:r>
          </a:p>
          <a:p>
            <a:pPr algn="ctr"/>
            <a:r>
              <a:rPr sz="1400">
                <a:solidFill>
                  <a:srgbClr val="3C3C3C"/>
                </a:solidFill>
              </a:rPr>
              <a:t>KisanSetu - Bridging Farmers Directly to Consumers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643</Words>
  <Application>Microsoft Office PowerPoint</Application>
  <PresentationFormat>Widescreen</PresentationFormat>
  <Paragraphs>159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Crop Advisory System for Small and Marginal Farmers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cse department</cp:lastModifiedBy>
  <cp:revision>961</cp:revision>
  <dcterms:created xsi:type="dcterms:W3CDTF">2013-12-12T18:46:50Z</dcterms:created>
  <dcterms:modified xsi:type="dcterms:W3CDTF">2025-09-17T10:19:35Z</dcterms:modified>
  <cp:category/>
</cp:coreProperties>
</file>