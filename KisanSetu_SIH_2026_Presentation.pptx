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1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E5B69-6954-4EBF-8ABB-AF7AF3A3169A}" v="252" dt="2025-09-16T17:58:26.900"/>
    <p1510:client id="{41BF881E-62AD-4A12-9C4E-1CF1253B6092}" v="48" dt="2025-09-16T18:29:21.129"/>
    <p1510:client id="{A382B0AA-77B2-46C6-936D-51E66F70A9FB}" v="452" dt="2025-09-16T18:28:30.318"/>
    <p1510:client id="{B9B20656-658A-434A-94B1-CE56E518D23A}" v="1924" dt="2025-09-16T18:21:44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jpe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jpeg"/><Relationship Id="rId21" Type="http://schemas.openxmlformats.org/officeDocument/2006/relationships/image" Target="../media/image21.jpeg"/><Relationship Id="rId22" Type="http://schemas.openxmlformats.org/officeDocument/2006/relationships/image" Target="../media/image22.png"/><Relationship Id="rId2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grostar.in/shop?language=hi&amp;state=uttar-pradesh" TargetMode="External"/><Relationship Id="rId5" Type="http://schemas.openxmlformats.org/officeDocument/2006/relationships/hyperlink" Target="https://plantix.net/" TargetMode="External"/><Relationship Id="rId6" Type="http://schemas.openxmlformats.org/officeDocument/2006/relationships/hyperlink" Target="https://secure.mygov.in/group-issue/kisan-suvidha-smart-mobile-app-farmers/" TargetMode="External"/><Relationship Id="rId7" Type="http://schemas.openxmlformats.org/officeDocument/2006/relationships/hyperlink" Target="https://www.cropin.com/" TargetMode="External"/><Relationship Id="rId8" Type="http://schemas.openxmlformats.org/officeDocument/2006/relationships/hyperlink" Target="https://arxiv.org/abs/2409.08916" TargetMode="External"/><Relationship Id="rId9" Type="http://schemas.openxmlformats.org/officeDocument/2006/relationships/hyperlink" Target="https://plantnet.org/en/" TargetMode="External"/><Relationship Id="rId10" Type="http://schemas.openxmlformats.org/officeDocument/2006/relationships/hyperlink" Target="https://www.linkedin.com/pulse/krishi-saathi-ai-powered-agricultural-advisory-indias-yfznc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2200">
                <a:solidFill>
                  <a:srgbClr val="3C3C3C"/>
                </a:solidFill>
              </a:rPr>
              <a:t>Farm to Consumer Digital Marketplace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800">
                <a:solidFill>
                  <a:srgbClr val="FF9800"/>
                </a:solidFill>
              </a:rPr>
              <a:t>
Smart India Hackathon 2026</a:t>
            </a:r>
          </a:p>
          <a:p>
            <a:pPr algn="ctr"/>
            <a:r>
              <a:rPr sz="1400">
                <a:solidFill>
                  <a:srgbClr val="3C3C3C"/>
                </a:solidFill>
              </a:rPr>
              <a:t>Problem Statement ID: SIH26033</a:t>
            </a:r>
          </a:p>
          <a:p>
            <a:pPr algn="ctr"/>
            <a:r>
              <a:rPr sz="1200">
                <a:solidFill>
                  <a:srgbClr val="646464"/>
                </a:solidFill>
              </a:rPr>
              <a:t>Ministry of Consumer Affairs, Food &amp; Public Distribution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400" b="1">
                <a:solidFill>
                  <a:srgbClr val="22783C"/>
                </a:solidFill>
              </a:rPr>
              <a:t>KisanSetu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1613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SIH25010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Smart Crop Advisory System for Small and Marginal Farmers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Theme- </a:t>
            </a:r>
            <a:r>
              <a:rPr lang="en-US" sz="1600" b="1">
                <a:latin typeface="Arial"/>
                <a:ea typeface="ＭＳ Ｐゴシック"/>
                <a:cs typeface="Arial"/>
              </a:rPr>
              <a:t>Agriculture, FoodTech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Team Name (Registered on portal)-</a:t>
            </a:r>
            <a:r>
              <a:rPr lang="en-US" sz="1400" b="1">
                <a:latin typeface="Arial"/>
                <a:ea typeface="ＭＳ Ｐゴシック"/>
                <a:cs typeface="Arial"/>
              </a:rPr>
              <a:t> </a:t>
            </a:r>
            <a:r>
              <a:rPr lang="en-US" sz="1400" b="1" err="1">
                <a:latin typeface="Arial"/>
                <a:ea typeface="ＭＳ Ｐゴシック"/>
                <a:cs typeface="Arial"/>
              </a:rPr>
              <a:t>CodeCatalyst</a:t>
            </a:r>
            <a:r>
              <a:rPr lang="en-US" sz="1400" b="1">
                <a:latin typeface="Arial"/>
                <a:ea typeface="ＭＳ Ｐゴシック"/>
                <a:cs typeface="Arial"/>
              </a:rPr>
              <a:t> 6.0</a:t>
            </a:r>
            <a:endParaRPr lang="en-IN" sz="14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800" b="1">
                <a:solidFill>
                  <a:srgbClr val="22783C"/>
                </a:solidFill>
              </a:rPr>
              <a:t>Problem Statement (SIH26033)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3556" y="1143000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Proposed Solution : </a:t>
            </a:r>
            <a:r>
              <a:rPr lang="en-US" sz="2800" b="1" u="sng" err="1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KrishiSakhi</a:t>
            </a:r>
            <a:r>
              <a:rPr lang="en-US" sz="2800" b="1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 App</a:t>
            </a:r>
            <a:endParaRPr lang="en-US" sz="2800" u="sng" dirty="0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  <a:r>
              <a:rPr lang="en-US" sz="1700" dirty="0"/>
              <a:t>Catalyst</a:t>
            </a:r>
          </a:p>
          <a:p>
            <a:pPr algn="ctr"/>
            <a:r>
              <a:rPr lang="en-US" dirty="0"/>
              <a:t>6.0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3428" y="1716403"/>
            <a:ext cx="6096000" cy="3323987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u="sng" err="1">
                <a:latin typeface="Arial"/>
                <a:ea typeface="ＭＳ Ｐゴシック"/>
                <a:cs typeface="Arial"/>
              </a:rPr>
              <a:t>KrishiSakhi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, a simple app and website that gives farmers advice in their own language. It helps with crops, soil, pests, fertilizers, weather and market prices.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u="sng" dirty="0">
                <a:latin typeface="Arial"/>
                <a:ea typeface="ＭＳ Ｐゴシック"/>
                <a:cs typeface="Arial"/>
              </a:rPr>
              <a:t>Key Features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</a:t>
            </a:r>
          </a:p>
          <a:p>
            <a:pPr marL="800100" lvl="1" indent="-342900" algn="just">
              <a:buAutoNum type="arabicPeriod"/>
            </a:pPr>
            <a:r>
              <a:rPr lang="en-US" sz="1400" b="1" dirty="0" err="1">
                <a:latin typeface="Arial"/>
                <a:ea typeface="ＭＳ Ｐゴシック"/>
                <a:cs typeface="Arial"/>
              </a:rPr>
              <a:t>AgroBot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Chatbot for crop advice in local language.</a:t>
            </a:r>
          </a:p>
          <a:p>
            <a:pPr marL="800100" lvl="1" indent="-342900" algn="just">
              <a:buAutoNum type="arabicPeriod"/>
            </a:pPr>
            <a:r>
              <a:rPr lang="en-US" sz="1400" b="1" dirty="0" err="1">
                <a:latin typeface="Arial"/>
                <a:ea typeface="ＭＳ Ｐゴシック"/>
                <a:cs typeface="Arial"/>
              </a:rPr>
              <a:t>KisanVoice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Farmers can talk and get answers by voice.</a:t>
            </a:r>
          </a:p>
          <a:p>
            <a:pPr marL="800100" lvl="1" indent="-342900" algn="just">
              <a:buAutoNum type="arabicPeriod"/>
            </a:pPr>
            <a:r>
              <a:rPr lang="en-US" sz="1400" b="1" dirty="0" err="1">
                <a:latin typeface="Arial"/>
                <a:ea typeface="ＭＳ Ｐゴシック"/>
                <a:cs typeface="Arial"/>
              </a:rPr>
              <a:t>MittiMitra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Soil and fertilizer tips.</a:t>
            </a:r>
          </a:p>
          <a:p>
            <a:pPr marL="800100" lvl="1" indent="-342900" algn="just">
              <a:buAutoNum type="arabicPeriod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Disease check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Framers can upload crop photos to find  diseases.</a:t>
            </a:r>
          </a:p>
          <a:p>
            <a:pPr marL="800100" lvl="1" indent="-342900" algn="just">
              <a:buAutoNum type="arabicPeriod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Alerts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Live weather and market price updates.</a:t>
            </a:r>
          </a:p>
          <a:p>
            <a:pPr marL="742950" lvl="1" indent="-285750" algn="just">
              <a:buAutoNum type="arabicPeriod"/>
            </a:pPr>
            <a:r>
              <a:rPr lang="en-US" sz="1400" dirty="0">
                <a:latin typeface="Arial"/>
                <a:ea typeface="ＭＳ Ｐゴシック"/>
                <a:cs typeface="Arial"/>
              </a:rPr>
              <a:t>Easy to use for farmers with low literacy, support local languages, save money and increases crop productivity, scalable, affordable, and helps millions of small farmers.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Work flow: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8781" y="4878267"/>
            <a:ext cx="1008404" cy="529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Login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>
            <a:stCxn id="3" idx="3"/>
          </p:cNvCxnSpPr>
          <p:nvPr/>
        </p:nvCxnSpPr>
        <p:spPr>
          <a:xfrm>
            <a:off x="1407185" y="5143187"/>
            <a:ext cx="496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54778" y="4827675"/>
            <a:ext cx="1465524" cy="599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requirement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>
            <a:stCxn id="8" idx="3"/>
          </p:cNvCxnSpPr>
          <p:nvPr/>
        </p:nvCxnSpPr>
        <p:spPr>
          <a:xfrm>
            <a:off x="3420302" y="5127473"/>
            <a:ext cx="5811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45117" y="4782447"/>
            <a:ext cx="1452785" cy="66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analysis the requirement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>
            <a:stCxn id="19" idx="3"/>
          </p:cNvCxnSpPr>
          <p:nvPr/>
        </p:nvCxnSpPr>
        <p:spPr>
          <a:xfrm flipV="1">
            <a:off x="5497902" y="5103609"/>
            <a:ext cx="533375" cy="9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79016" y="4717371"/>
            <a:ext cx="1346699" cy="72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advice by text, voice, or image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200" y="1059580"/>
            <a:ext cx="3500152" cy="4630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22783C"/>
                </a:solidFill>
              </a:rPr>
              <a:t>Our Solution: KisanSetu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6315" y="1365168"/>
            <a:ext cx="5582773" cy="394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Frontend</a:t>
            </a:r>
            <a:r>
              <a:rPr lang="en-US">
                <a:latin typeface="Arial"/>
                <a:ea typeface="ＭＳ Ｐゴシック"/>
                <a:cs typeface="Arial"/>
              </a:rPr>
              <a:t>: Flutter, React.js</a:t>
            </a:r>
          </a:p>
          <a:p>
            <a:pPr marL="342900" indent="-342900" algn="just">
              <a:buFont typeface="Arial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Programing Languages</a:t>
            </a:r>
            <a:r>
              <a:rPr lang="en-US">
                <a:latin typeface="Arial"/>
                <a:ea typeface="ＭＳ Ｐゴシック"/>
                <a:cs typeface="Arial"/>
              </a:rPr>
              <a:t>: Python, Dart, </a:t>
            </a:r>
            <a:r>
              <a:rPr lang="en-US" err="1">
                <a:latin typeface="Arial"/>
                <a:ea typeface="ＭＳ Ｐゴシック"/>
                <a:cs typeface="Arial"/>
              </a:rPr>
              <a:t>Javascript</a:t>
            </a:r>
            <a:r>
              <a:rPr lang="en-US">
                <a:latin typeface="Arial"/>
                <a:ea typeface="ＭＳ Ｐゴシック"/>
                <a:cs typeface="Arial"/>
              </a:rPr>
              <a:t> , Typescript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Backend &amp; Database</a:t>
            </a:r>
            <a:r>
              <a:rPr lang="en-US">
                <a:latin typeface="Arial"/>
                <a:ea typeface="ＭＳ Ｐゴシック"/>
                <a:cs typeface="Arial"/>
              </a:rPr>
              <a:t>: Firebase (Auth, </a:t>
            </a:r>
            <a:r>
              <a:rPr lang="en-US" err="1">
                <a:latin typeface="Arial"/>
                <a:ea typeface="ＭＳ Ｐゴシック"/>
                <a:cs typeface="Arial"/>
              </a:rPr>
              <a:t>Firestore</a:t>
            </a:r>
            <a:r>
              <a:rPr lang="en-US">
                <a:latin typeface="Arial"/>
                <a:ea typeface="ＭＳ Ｐゴシック"/>
                <a:cs typeface="Arial"/>
              </a:rPr>
              <a:t>, Cloud Function, ML Kit, Cloud Storage, Messaging), Next.js, Express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APIs</a:t>
            </a:r>
            <a:r>
              <a:rPr lang="en-US">
                <a:latin typeface="Arial"/>
                <a:ea typeface="ＭＳ Ｐゴシック"/>
                <a:cs typeface="Arial"/>
              </a:rPr>
              <a:t>: </a:t>
            </a:r>
            <a:r>
              <a:rPr lang="en-US" err="1">
                <a:latin typeface="Arial"/>
                <a:ea typeface="ＭＳ Ｐゴシック"/>
                <a:cs typeface="Arial"/>
              </a:rPr>
              <a:t>OpenWeatherMap</a:t>
            </a:r>
            <a:r>
              <a:rPr lang="en-US">
                <a:latin typeface="Arial"/>
                <a:ea typeface="ＭＳ Ｐゴシック"/>
                <a:cs typeface="Arial"/>
              </a:rPr>
              <a:t>(Weather), Government Market Price APIs(Price Tracking)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AI/ML</a:t>
            </a:r>
            <a:r>
              <a:rPr lang="en-US">
                <a:latin typeface="Arial"/>
                <a:ea typeface="ＭＳ Ｐゴシック"/>
                <a:cs typeface="Arial"/>
              </a:rPr>
              <a:t>: Firebase ML Kit, Google Vision API, TensorFlow Model (Disease Detection), RASA, </a:t>
            </a:r>
            <a:r>
              <a:rPr lang="en-US" err="1">
                <a:latin typeface="Arial"/>
                <a:ea typeface="ＭＳ Ｐゴシック"/>
                <a:cs typeface="Arial"/>
              </a:rPr>
              <a:t>PyTorch</a:t>
            </a:r>
            <a:r>
              <a:rPr lang="en-US">
                <a:latin typeface="Arial"/>
                <a:ea typeface="ＭＳ Ｐゴシック"/>
                <a:cs typeface="Arial"/>
              </a:rPr>
              <a:t>, Transformer, </a:t>
            </a:r>
            <a:r>
              <a:rPr lang="en-US" err="1">
                <a:latin typeface="Arial"/>
                <a:ea typeface="ＭＳ Ｐゴシック"/>
                <a:cs typeface="Arial"/>
              </a:rPr>
              <a:t>XGBoost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Voice &amp; Language</a:t>
            </a:r>
            <a:r>
              <a:rPr lang="en-US">
                <a:latin typeface="Arial"/>
                <a:ea typeface="ＭＳ Ｐゴシック"/>
                <a:cs typeface="Arial"/>
              </a:rPr>
              <a:t>: Google Cloud Translator API, Google Speech-to-text API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DevOps/Collaboration</a:t>
            </a:r>
            <a:r>
              <a:rPr lang="en-US">
                <a:latin typeface="Arial"/>
                <a:ea typeface="ＭＳ Ｐゴシック"/>
                <a:cs typeface="Arial"/>
              </a:rPr>
              <a:t>: GitHub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  <a:r>
              <a:rPr lang="en-US" sz="1700" dirty="0"/>
              <a:t>Catalyst </a:t>
            </a:r>
            <a:r>
              <a:rPr lang="en-US" dirty="0"/>
              <a:t>6.0</a:t>
            </a:r>
            <a:endParaRPr lang="en-IN" sz="17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40969" y="1344569"/>
            <a:ext cx="2142828" cy="1474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4" name="Picture 10" descr="Flutter Vector SVG Icon - SVG Rep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78" y="1573760"/>
            <a:ext cx="482991" cy="48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287897" y="1117692"/>
            <a:ext cx="144897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Frontend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8" name="Picture 14" descr="Free React Icon - Free Download Logos Icons | IconScou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52" y="1615746"/>
            <a:ext cx="466104" cy="46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JavaScript JS Logo Icon HD 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085" y="1547154"/>
            <a:ext cx="553781" cy="63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ile:Dart logo.png - Wikimedia Comm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78" y="2148421"/>
            <a:ext cx="541900" cy="54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le:Python-logo-notext.svg - Wikimedia Common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52" y="2239420"/>
            <a:ext cx="422141" cy="42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File:Typescript logo 2020.svg - Wikimedia Common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84" y="2239420"/>
            <a:ext cx="536003" cy="43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>
            <a:stCxn id="2" idx="3"/>
          </p:cNvCxnSpPr>
          <p:nvPr/>
        </p:nvCxnSpPr>
        <p:spPr>
          <a:xfrm flipV="1">
            <a:off x="8083797" y="2081850"/>
            <a:ext cx="7521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835963" y="1216600"/>
            <a:ext cx="2225327" cy="1474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9478922" y="1091974"/>
            <a:ext cx="848871" cy="37504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4" name="Picture 30" descr="OpenWeather · GitHub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283" y="1350984"/>
            <a:ext cx="684959" cy="68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arket price logo design template | Premium Vector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771" y="1526389"/>
            <a:ext cx="857608" cy="67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loud Translation API – Marketplace – Google Cloud console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192" y="2092054"/>
            <a:ext cx="926515" cy="46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Google launches Cloud Vision API application - Routee.ne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284" y="2009925"/>
            <a:ext cx="775431" cy="51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/>
          <p:cNvCxnSpPr>
            <a:stCxn id="16" idx="2"/>
          </p:cNvCxnSpPr>
          <p:nvPr/>
        </p:nvCxnSpPr>
        <p:spPr>
          <a:xfrm flipH="1">
            <a:off x="9948625" y="2691163"/>
            <a:ext cx="2" cy="586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568813" y="3421008"/>
            <a:ext cx="3013587" cy="12219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9260293" y="3308823"/>
            <a:ext cx="152071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AI / 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4" name="Picture 40" descr="ML Kit | Google for Developers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746" y="3737007"/>
            <a:ext cx="438747" cy="36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Google TensorFlow Icon SVG Vector &amp; PNG Free Download | UXWi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339" y="3737007"/>
            <a:ext cx="484868" cy="46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GitHub - RasaHQ/rasa: 💬 Open source machine learning framework to automate  text- and voice-based conversations: NLU, dialogue management, connect to  Slack, Facebook, and more - Create chatbots and voice assistants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290" y="3771953"/>
            <a:ext cx="455867" cy="45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File:PyTorch logo icon.svg - Wikimedia Commons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767" y="3640194"/>
            <a:ext cx="485326" cy="58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Understanding XGBoost &amp; it's growing popularity among the ML community | by  Deep Borkar | Analytics Vidhya | Medium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71" y="4162354"/>
            <a:ext cx="761741" cy="42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/>
          <p:cNvCxnSpPr>
            <a:stCxn id="23" idx="2"/>
          </p:cNvCxnSpPr>
          <p:nvPr/>
        </p:nvCxnSpPr>
        <p:spPr>
          <a:xfrm flipH="1">
            <a:off x="8895939" y="4642923"/>
            <a:ext cx="1179668" cy="572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003478" y="5273235"/>
            <a:ext cx="3837888" cy="9642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4" name="TextBox 1023"/>
          <p:cNvSpPr txBox="1"/>
          <p:nvPr/>
        </p:nvSpPr>
        <p:spPr>
          <a:xfrm>
            <a:off x="7165660" y="5117427"/>
            <a:ext cx="1525015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Backend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4" name="Picture 50" descr="Firebase Brand Guidelines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5462661"/>
            <a:ext cx="644734" cy="64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Next.js Logo &amp; Brand Assets (SVG, PNG and vector) - Brandfetch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594" y="5544701"/>
            <a:ext cx="598231" cy="59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Cloud storage logo design template | Premium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614" y="5452603"/>
            <a:ext cx="602369" cy="6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ile:Expressjs.png - Wikimedia Commons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75" y="5590888"/>
            <a:ext cx="1487395" cy="45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7" name="Straight Arrow Connector 1026"/>
          <p:cNvCxnSpPr/>
          <p:nvPr/>
        </p:nvCxnSpPr>
        <p:spPr>
          <a:xfrm flipH="1" flipV="1">
            <a:off x="6517663" y="4472261"/>
            <a:ext cx="594017" cy="743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8" name="Rectangle 1027"/>
          <p:cNvSpPr/>
          <p:nvPr/>
        </p:nvSpPr>
        <p:spPr>
          <a:xfrm>
            <a:off x="5940969" y="3549478"/>
            <a:ext cx="1975718" cy="9227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9" name="TextBox 1028"/>
          <p:cNvSpPr txBox="1"/>
          <p:nvPr/>
        </p:nvSpPr>
        <p:spPr>
          <a:xfrm>
            <a:off x="6331083" y="3341763"/>
            <a:ext cx="1092787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4" name="Picture 60" descr="GitHub Logo, symbol, meaning, history, PNG, brand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428" y="3775480"/>
            <a:ext cx="1179053" cy="66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22783C"/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36914" cy="8399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Code</a:t>
            </a:r>
          </a:p>
          <a:p>
            <a:pPr algn="ctr"/>
            <a:r>
              <a:rPr lang="en-US">
                <a:ea typeface="Calibri"/>
                <a:cs typeface="Calibri"/>
              </a:rPr>
              <a:t>Catalyst6.0</a:t>
            </a:r>
            <a:endParaRPr lang="en-US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2686E2-5F2A-F948-746E-F57B48C0AC89}"/>
              </a:ext>
            </a:extLst>
          </p:cNvPr>
          <p:cNvSpPr txBox="1"/>
          <p:nvPr/>
        </p:nvSpPr>
        <p:spPr>
          <a:xfrm>
            <a:off x="483269" y="1175084"/>
            <a:ext cx="3254542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ＭＳ Ｐゴシック"/>
                <a:cs typeface="Calibri"/>
              </a:rPr>
              <a:t> 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Feasibility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Cloud backend (Firebase/</a:t>
            </a:r>
            <a:r>
              <a:rPr lang="en-US" err="1">
                <a:latin typeface="Calibri"/>
                <a:ea typeface="ＭＳ Ｐゴシック"/>
                <a:cs typeface="Calibri"/>
              </a:rPr>
              <a:t>Firestore</a:t>
            </a:r>
            <a:r>
              <a:rPr lang="en-US">
                <a:latin typeface="Calibri"/>
                <a:ea typeface="ＭＳ Ｐゴシック"/>
                <a:cs typeface="Calibri"/>
              </a:rPr>
              <a:t>, Express) for scalability.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APIs for weather, market prices, and translation.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Pre-trained AI/ML models (TensorFlow, </a:t>
            </a:r>
            <a:r>
              <a:rPr lang="en-US" err="1">
                <a:latin typeface="Calibri"/>
                <a:ea typeface="ＭＳ Ｐゴシック"/>
                <a:cs typeface="Calibri"/>
              </a:rPr>
              <a:t>PyTorch</a:t>
            </a:r>
            <a:r>
              <a:rPr lang="en-US">
                <a:latin typeface="Calibri"/>
                <a:ea typeface="ＭＳ Ｐゴシック"/>
                <a:cs typeface="Calibri"/>
              </a:rPr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Multilingual support via Google APIs.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Cross-platform app with Flutter.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4893D-B3DD-5E31-66FB-EC221BC89C26}"/>
              </a:ext>
            </a:extLst>
          </p:cNvPr>
          <p:cNvSpPr txBox="1"/>
          <p:nvPr/>
        </p:nvSpPr>
        <p:spPr>
          <a:xfrm>
            <a:off x="4383505" y="1175084"/>
            <a:ext cx="2743200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ＭＳ Ｐゴシック"/>
                <a:cs typeface="Calibri"/>
              </a:rPr>
              <a:t>  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Challenges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Poor internet in rural areas.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Inconsistent </a:t>
            </a:r>
            <a:r>
              <a:rPr lang="en-US" err="1">
                <a:latin typeface="Calibri"/>
                <a:ea typeface="ＭＳ Ｐゴシック"/>
                <a:cs typeface="Calibri"/>
              </a:rPr>
              <a:t>agri</a:t>
            </a:r>
            <a:r>
              <a:rPr lang="en-US">
                <a:latin typeface="Calibri"/>
                <a:ea typeface="ＭＳ Ｐゴシック"/>
                <a:cs typeface="Calibri"/>
              </a:rPr>
              <a:t>-data quality.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Scalability for millions of users.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Diverse languages/dialects.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Low digital literacy among farmers.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B52E6-61A8-FA2E-4D53-B4D8340EA29A}"/>
              </a:ext>
            </a:extLst>
          </p:cNvPr>
          <p:cNvSpPr txBox="1"/>
          <p:nvPr/>
        </p:nvSpPr>
        <p:spPr>
          <a:xfrm>
            <a:off x="8343900" y="1094874"/>
            <a:ext cx="2743200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ＭＳ Ｐゴシック"/>
                <a:cs typeface="Calibri"/>
              </a:rPr>
              <a:t>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 Strategies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Offline-first design (caching/SMS fallback).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Partnerships with ICAR, Govt., FPOs.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Model optimization &amp; caching.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Regional dialect support with NLP.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Farmer training &amp; awareness drives.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B148CF-B670-A208-5C65-3D1FB8E8EBA8}"/>
              </a:ext>
            </a:extLst>
          </p:cNvPr>
          <p:cNvCxnSpPr/>
          <p:nvPr/>
        </p:nvCxnSpPr>
        <p:spPr>
          <a:xfrm>
            <a:off x="4037096" y="908886"/>
            <a:ext cx="22059" cy="408271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E79417-BBEE-388A-425C-534D7EE0837E}"/>
              </a:ext>
            </a:extLst>
          </p:cNvPr>
          <p:cNvCxnSpPr/>
          <p:nvPr/>
        </p:nvCxnSpPr>
        <p:spPr>
          <a:xfrm>
            <a:off x="7839576" y="811130"/>
            <a:ext cx="22057" cy="428324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CB6543-AF30-ED37-7EE0-382F98D4EF47}"/>
              </a:ext>
            </a:extLst>
          </p:cNvPr>
          <p:cNvSpPr txBox="1"/>
          <p:nvPr/>
        </p:nvSpPr>
        <p:spPr>
          <a:xfrm>
            <a:off x="523374" y="4985085"/>
            <a:ext cx="7214936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Calibri"/>
                <a:ea typeface="ＭＳ Ｐゴシック"/>
                <a:cs typeface="Calibri"/>
              </a:rPr>
              <a:t>Business Idea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Subscription-based premium advisory services with voice call support.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Collaboration with government &amp; NGOs for large-scale adoption.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Marketplace feature to connect farmers directly with buyers.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22783C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22304" cy="827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Code</a:t>
            </a:r>
          </a:p>
          <a:p>
            <a:pPr algn="ctr"/>
            <a:r>
              <a:rPr lang="en-US"/>
              <a:t>Catalyst</a:t>
            </a:r>
            <a:endParaRPr lang="en-US">
              <a:ea typeface="Calibri"/>
              <a:cs typeface="Calibri"/>
            </a:endParaRPr>
          </a:p>
          <a:p>
            <a:pPr algn="ctr"/>
            <a:r>
              <a:rPr lang="en-US"/>
              <a:t>6.0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3561C-6A88-2A3F-C6CB-CE124ABBE816}"/>
              </a:ext>
            </a:extLst>
          </p:cNvPr>
          <p:cNvSpPr txBox="1"/>
          <p:nvPr/>
        </p:nvSpPr>
        <p:spPr>
          <a:xfrm>
            <a:off x="6388770" y="1034716"/>
            <a:ext cx="5650830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ＭＳ Ｐゴシック"/>
                <a:cs typeface="Calibri"/>
              </a:rPr>
              <a:t>                                  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Benefits</a:t>
            </a:r>
          </a:p>
          <a:p>
            <a:endParaRPr lang="en-US" sz="2800" b="1">
              <a:latin typeface="Calibri"/>
              <a:ea typeface="ＭＳ Ｐゴシック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Yield Improvement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ICT-based advisories can enhance crop yields by 20–30% (NABARD, FAO reports).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Cost Savings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Smart fertilizer management reduces input costs by 15–20% (ICAR study).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Wider Farmer Coverage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The solution directly benefits 86% of Indian farmers, especially small and marginal farmers (NABARD, 2022).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Time Efficiency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Farmers save time through quick access to reliable information instead of depending on middlemen.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Income Growth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Digital advisory platforms have been shown to increase farmer incomes by 25% on average (World Bank AgriTech study).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5901A-922D-15CF-B80D-587723022406}"/>
              </a:ext>
            </a:extLst>
          </p:cNvPr>
          <p:cNvSpPr txBox="1"/>
          <p:nvPr/>
        </p:nvSpPr>
        <p:spPr>
          <a:xfrm>
            <a:off x="443163" y="1034715"/>
            <a:ext cx="565083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ＭＳ Ｐゴシック"/>
                <a:cs typeface="Calibri"/>
              </a:rPr>
              <a:t>                              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 Impact</a:t>
            </a:r>
          </a:p>
          <a:p>
            <a:endParaRPr lang="en-US" sz="2400" b="1">
              <a:latin typeface="Calibri"/>
              <a:ea typeface="ＭＳ Ｐゴシック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Economic Upliftment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Enhances income and livelihoods of small and marginal farmers through better returns.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Sustainability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Promotes reduced chemical overuse, ensuring healthier soil, water, and long-term crop productivity.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Food Security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Contributes to higher and more reliable crop production, strengthening national food supply.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Digital Inclusion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Bridges the digital divide by enabling rural communities to adopt </a:t>
            </a:r>
            <a:r>
              <a:rPr lang="en-US" err="1">
                <a:latin typeface="Calibri"/>
                <a:ea typeface="ＭＳ Ｐゴシック"/>
                <a:cs typeface="Calibri"/>
              </a:rPr>
              <a:t>agri-tech</a:t>
            </a:r>
            <a:r>
              <a:rPr lang="en-US">
                <a:latin typeface="Calibri"/>
                <a:ea typeface="ＭＳ Ｐゴシック"/>
                <a:cs typeface="Calibri"/>
              </a:rPr>
              <a:t> solutions effectively.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Policy and Scalability</a:t>
            </a:r>
            <a:r>
              <a:rPr lang="en-US"/>
              <a:t/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Provides actionable data insights for government/NGO planning, with strong potential to scale across regions and diverse crops.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E21DAA-F77C-FC85-DCD8-BBF304B6B115}"/>
              </a:ext>
            </a:extLst>
          </p:cNvPr>
          <p:cNvCxnSpPr/>
          <p:nvPr/>
        </p:nvCxnSpPr>
        <p:spPr>
          <a:xfrm>
            <a:off x="6220325" y="1818772"/>
            <a:ext cx="22060" cy="452387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22783C"/>
                </a:solidFill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878" y="1184453"/>
            <a:ext cx="2421199" cy="53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buFont typeface="Wingdings" panose="020B0604020202020204" pitchFamily="34" charset="0"/>
              <a:buChar char="v"/>
              <a:defRPr/>
            </a:pPr>
            <a:r>
              <a:rPr lang="en-US" sz="2800" u="sng" dirty="0" err="1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Refrences</a:t>
            </a:r>
            <a:r>
              <a:rPr lang="en-US" sz="2800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:</a:t>
            </a:r>
            <a:endParaRPr lang="en-US" sz="2800" b="0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36914" cy="8399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Code </a:t>
            </a:r>
          </a:p>
          <a:p>
            <a:pPr algn="ctr"/>
            <a:r>
              <a:rPr lang="en-US" sz="1700" dirty="0">
                <a:ea typeface="Calibri"/>
                <a:cs typeface="Calibri"/>
              </a:rPr>
              <a:t>Catalyst</a:t>
            </a:r>
          </a:p>
          <a:p>
            <a:pPr algn="ctr"/>
            <a:r>
              <a:rPr lang="en-US" dirty="0">
                <a:ea typeface="Calibri"/>
                <a:cs typeface="Calibri"/>
              </a:rPr>
              <a:t>6.0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C57129-167F-C627-4F85-1F80719CA45B}"/>
              </a:ext>
            </a:extLst>
          </p:cNvPr>
          <p:cNvSpPr txBox="1"/>
          <p:nvPr/>
        </p:nvSpPr>
        <p:spPr>
          <a:xfrm>
            <a:off x="332885" y="1710344"/>
            <a:ext cx="28975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ＭＳ Ｐゴシック"/>
                <a:cs typeface="Arial"/>
              </a:rPr>
              <a:t>Existing Website &amp; App: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4A2B6-F80B-D659-37CE-C75F53873424}"/>
              </a:ext>
            </a:extLst>
          </p:cNvPr>
          <p:cNvSpPr txBox="1"/>
          <p:nvPr/>
        </p:nvSpPr>
        <p:spPr>
          <a:xfrm>
            <a:off x="327149" y="2090045"/>
            <a:ext cx="343767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ＭＳ Ｐゴシック"/>
                <a:cs typeface="Arial"/>
              </a:rPr>
              <a:t>AgroStar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</a:t>
            </a:r>
            <a:r>
              <a:rPr lang="en-US" dirty="0">
                <a:latin typeface="Arial"/>
                <a:ea typeface="ＭＳ Ｐゴシック"/>
                <a:cs typeface="Arial"/>
              </a:rPr>
              <a:t> </a:t>
            </a:r>
            <a:r>
              <a:rPr lang="en-US" sz="1200" dirty="0">
                <a:latin typeface="Arial"/>
                <a:ea typeface="Calibri"/>
                <a:cs typeface="Calibri"/>
                <a:hlinkClick r:id="rId4"/>
              </a:rPr>
              <a:t>https://agrostar.in/shop?language=hi&amp;state=uttar-pradesh</a:t>
            </a:r>
            <a:r>
              <a:rPr lang="en-US" sz="1200" dirty="0">
                <a:latin typeface="Arial"/>
                <a:ea typeface="ＭＳ Ｐゴシック"/>
                <a:cs typeface="Arial"/>
              </a:rPr>
              <a:t> </a:t>
            </a:r>
            <a:endParaRPr lang="en-US" sz="1200">
              <a:latin typeface="Arial"/>
              <a:cs typeface="Arial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Calibri"/>
                <a:cs typeface="Calibri"/>
              </a:rPr>
              <a:t>Plantix</a:t>
            </a:r>
            <a:r>
              <a:rPr lang="en-US" sz="1400" dirty="0">
                <a:latin typeface="Arial"/>
                <a:ea typeface="Calibri"/>
                <a:cs typeface="Calibri"/>
              </a:rPr>
              <a:t>: </a:t>
            </a:r>
            <a:r>
              <a:rPr lang="en-US" sz="1400" dirty="0">
                <a:latin typeface="Arial"/>
                <a:ea typeface="Calibri"/>
                <a:cs typeface="Calibri"/>
                <a:hlinkClick r:id="rId5"/>
              </a:rPr>
              <a:t>https://plantix.net/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dirty="0">
                <a:latin typeface="Arial"/>
                <a:ea typeface="Calibri"/>
                <a:cs typeface="Calibri"/>
              </a:rPr>
              <a:t>Kisan Suvidha: </a:t>
            </a:r>
            <a:r>
              <a:rPr lang="en-US" sz="1200" dirty="0">
                <a:latin typeface="Arial"/>
                <a:ea typeface="Calibri"/>
                <a:cs typeface="Calibri"/>
                <a:hlinkClick r:id="rId6"/>
              </a:rPr>
              <a:t>https://secure.mygov.in/group-issue/kisan-suvidha-smart-mobile-app-farmers/</a:t>
            </a:r>
            <a:endParaRPr lang="en-US" sz="120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Calibri"/>
                <a:cs typeface="Calibri"/>
              </a:rPr>
              <a:t>Cropin</a:t>
            </a:r>
            <a:r>
              <a:rPr lang="en-US" sz="1400" dirty="0">
                <a:latin typeface="Arial"/>
                <a:ea typeface="Calibri"/>
                <a:cs typeface="Calibri"/>
              </a:rPr>
              <a:t> Grow: </a:t>
            </a:r>
            <a:r>
              <a:rPr lang="en-US" sz="1400" dirty="0">
                <a:latin typeface="Arial"/>
                <a:ea typeface="Calibri"/>
                <a:cs typeface="Calibri"/>
                <a:hlinkClick r:id="rId7"/>
              </a:rPr>
              <a:t>https://www.cropin.com/</a:t>
            </a:r>
            <a:endParaRPr lang="en-US" sz="1400" dirty="0">
              <a:latin typeface="Arial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B0DCD-3580-3D0D-BFAC-21DD76EC7AF9}"/>
              </a:ext>
            </a:extLst>
          </p:cNvPr>
          <p:cNvSpPr txBox="1"/>
          <p:nvPr/>
        </p:nvSpPr>
        <p:spPr>
          <a:xfrm>
            <a:off x="410851" y="395552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ＭＳ Ｐゴシック"/>
                <a:cs typeface="Calibri"/>
              </a:rPr>
              <a:t>Research Innovation :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F056A-98DB-1653-5D0C-7D5B5B3AEF9B}"/>
              </a:ext>
            </a:extLst>
          </p:cNvPr>
          <p:cNvSpPr txBox="1"/>
          <p:nvPr/>
        </p:nvSpPr>
        <p:spPr>
          <a:xfrm>
            <a:off x="211402" y="4323558"/>
            <a:ext cx="356307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ＭＳ Ｐゴシック"/>
                <a:cs typeface="Arial"/>
              </a:rPr>
              <a:t>Farmer.chat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</a:t>
            </a:r>
            <a:r>
              <a:rPr lang="en-US" sz="1400" dirty="0">
                <a:latin typeface="Arial"/>
                <a:ea typeface="Calibri"/>
                <a:cs typeface="Calibri"/>
                <a:hlinkClick r:id="rId8"/>
              </a:rPr>
              <a:t>https://arxiv.org/abs/2409.08916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Calibri"/>
                <a:cs typeface="Calibri"/>
              </a:rPr>
              <a:t>PlantNet</a:t>
            </a:r>
            <a:r>
              <a:rPr lang="en-US" sz="1400" dirty="0">
                <a:latin typeface="Arial"/>
                <a:ea typeface="Calibri"/>
                <a:cs typeface="Calibri"/>
              </a:rPr>
              <a:t>: </a:t>
            </a:r>
            <a:r>
              <a:rPr lang="en-US" sz="1400" dirty="0">
                <a:latin typeface="Arial"/>
                <a:ea typeface="Calibri"/>
                <a:cs typeface="Calibri"/>
                <a:hlinkClick r:id="rId9"/>
              </a:rPr>
              <a:t>https://plantnet.org/en/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dirty="0">
                <a:latin typeface="Arial"/>
                <a:ea typeface="Calibri"/>
                <a:cs typeface="Calibri"/>
              </a:rPr>
              <a:t>Krishi Sathi: </a:t>
            </a:r>
            <a:r>
              <a:rPr lang="en-US" sz="1200" dirty="0">
                <a:latin typeface="Arial"/>
                <a:ea typeface="Calibri"/>
                <a:cs typeface="Calibri"/>
                <a:hlinkClick r:id="rId10"/>
              </a:rPr>
              <a:t>https://www.linkedin.com/pulse/krishi-saathi-ai-powered-agricultural-advisory-indias-yfznc/</a:t>
            </a:r>
            <a:endParaRPr lang="en-US" sz="1200">
              <a:latin typeface="Arial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74553-0202-3718-D040-283AB5BE33C6}"/>
              </a:ext>
            </a:extLst>
          </p:cNvPr>
          <p:cNvSpPr txBox="1"/>
          <p:nvPr/>
        </p:nvSpPr>
        <p:spPr>
          <a:xfrm>
            <a:off x="3803942" y="1096971"/>
            <a:ext cx="63506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Comparision with Existing Systems:</a:t>
            </a:r>
            <a:endParaRPr lang="en-US" sz="2800" u="sng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361D17D-BD35-F222-CC3F-2BE7ADAF5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296756"/>
              </p:ext>
            </p:extLst>
          </p:nvPr>
        </p:nvGraphicFramePr>
        <p:xfrm>
          <a:off x="3795115" y="1571745"/>
          <a:ext cx="8117127" cy="47844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355">
                  <a:extLst>
                    <a:ext uri="{9D8B030D-6E8A-4147-A177-3AD203B41FA5}">
                      <a16:colId xmlns:a16="http://schemas.microsoft.com/office/drawing/2014/main" val="485883200"/>
                    </a:ext>
                  </a:extLst>
                </a:gridCol>
                <a:gridCol w="1774806">
                  <a:extLst>
                    <a:ext uri="{9D8B030D-6E8A-4147-A177-3AD203B41FA5}">
                      <a16:colId xmlns:a16="http://schemas.microsoft.com/office/drawing/2014/main" val="948218424"/>
                    </a:ext>
                  </a:extLst>
                </a:gridCol>
                <a:gridCol w="1563851">
                  <a:extLst>
                    <a:ext uri="{9D8B030D-6E8A-4147-A177-3AD203B41FA5}">
                      <a16:colId xmlns:a16="http://schemas.microsoft.com/office/drawing/2014/main" val="212421474"/>
                    </a:ext>
                  </a:extLst>
                </a:gridCol>
                <a:gridCol w="1192900">
                  <a:extLst>
                    <a:ext uri="{9D8B030D-6E8A-4147-A177-3AD203B41FA5}">
                      <a16:colId xmlns:a16="http://schemas.microsoft.com/office/drawing/2014/main" val="1386473985"/>
                    </a:ext>
                  </a:extLst>
                </a:gridCol>
                <a:gridCol w="1796215">
                  <a:extLst>
                    <a:ext uri="{9D8B030D-6E8A-4147-A177-3AD203B41FA5}">
                      <a16:colId xmlns:a16="http://schemas.microsoft.com/office/drawing/2014/main" val="3970302981"/>
                    </a:ext>
                  </a:extLst>
                </a:gridCol>
              </a:tblGrid>
              <a:tr h="37178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u="sng" err="1">
                          <a:latin typeface="Times New Roman"/>
                        </a:rPr>
                        <a:t>KrishiSakhi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AgroStar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Plantix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Kisan Suvidha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054543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Multilingual  AI </a:t>
                      </a:r>
                      <a:r>
                        <a:rPr lang="en-US" err="1">
                          <a:latin typeface="Times New Roman"/>
                        </a:rPr>
                        <a:t>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✅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✅(Limited)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✅(Partial)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433343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Crop </a:t>
                      </a:r>
                      <a:r>
                        <a:rPr lang="en-US" err="1">
                          <a:latin typeface="Times New Roman"/>
                        </a:rPr>
                        <a:t>Calender</a:t>
                      </a:r>
                      <a:endParaRPr lang="en-US" dirty="0" err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50516"/>
                  </a:ext>
                </a:extLst>
              </a:tr>
              <a:tr h="6526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Pest / Disease Image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139180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Market Price Tracking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616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Voice support for literacy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328431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Direct Local Shop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10091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 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40874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Feedback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✅(Limited)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15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22783C"/>
                </a:solidFill>
              </a:rPr>
              <a:t>Future Scope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9800"/>
                </a:solidFill>
              </a:rPr>
              <a:t>Phase 2 Enhancements: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Mobile app (React Native)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Payment gateway integration (Razorpay)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Multi-language support (Hindi, Tamil, etc.)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GPS-based farmer discovery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C3C3C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9800"/>
                </a:solidFill>
              </a:rPr>
              <a:t>Phase 3 Enhancements: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IoT integration for crop monitoring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Blockchain for supply chain transparency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AI chatbot for farmer support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C3C3C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9800"/>
                </a:solidFill>
              </a:rPr>
              <a:t>References: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BigHaat, DeHaat, AgroStar (Existing platforms)</a:t>
            </a:r>
          </a:p>
          <a:p>
            <a:pPr lvl="1">
              <a:spcAft>
                <a:spcPts val="400"/>
              </a:spcAft>
            </a:pPr>
            <a:r>
              <a:rPr sz="1300">
                <a:solidFill>
                  <a:srgbClr val="3C3C3C"/>
                </a:solidFill>
              </a:rPr>
              <a:t>  • FAO &amp; NABARD reports on digital agriculture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C3C3C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22783C"/>
                </a:solidFill>
              </a:rPr>
              <a:t>Thank You!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C3C3C"/>
                </a:solidFill>
              </a:rPr>
              <a:t>KisanSetu - Bridging Farmers Directly to Consumers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643</Words>
  <Application>Microsoft Office PowerPoint</Application>
  <PresentationFormat>Widescreen</PresentationFormat>
  <Paragraphs>159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Crop Advisory System for Small and Marginal Farmers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cse department</cp:lastModifiedBy>
  <cp:revision>961</cp:revision>
  <dcterms:created xsi:type="dcterms:W3CDTF">2013-12-12T18:46:50Z</dcterms:created>
  <dcterms:modified xsi:type="dcterms:W3CDTF">2025-09-17T10:19:35Z</dcterms:modified>
  <cp:category/>
</cp:coreProperties>
</file>